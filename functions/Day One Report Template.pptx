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u Project" userId="d565df2aa69a0f45" providerId="LiveId" clId="{4866394B-2C88-4410-869E-8B3EF3FC32F9}"/>
    <pc:docChg chg="custSel modMainMaster">
      <pc:chgData name="Ndu Project" userId="d565df2aa69a0f45" providerId="LiveId" clId="{4866394B-2C88-4410-869E-8B3EF3FC32F9}" dt="2026-06-23T06:53:57.096" v="26" actId="20577"/>
      <pc:docMkLst>
        <pc:docMk/>
      </pc:docMkLst>
      <pc:sldMasterChg chg="modSldLayout">
        <pc:chgData name="Ndu Project" userId="d565df2aa69a0f45" providerId="LiveId" clId="{4866394B-2C88-4410-869E-8B3EF3FC32F9}" dt="2026-06-23T06:53:57.096" v="26" actId="20577"/>
        <pc:sldMasterMkLst>
          <pc:docMk/>
          <pc:sldMasterMk cId="3217367886" sldId="2147483648"/>
        </pc:sldMasterMkLst>
        <pc:sldLayoutChg chg="modSp mod">
          <pc:chgData name="Ndu Project" userId="d565df2aa69a0f45" providerId="LiveId" clId="{4866394B-2C88-4410-869E-8B3EF3FC32F9}" dt="2026-06-23T06:53:57.096" v="26" actId="20577"/>
          <pc:sldLayoutMkLst>
            <pc:docMk/>
            <pc:sldMasterMk cId="3217367886" sldId="2147483648"/>
            <pc:sldLayoutMk cId="1576899903" sldId="2147483649"/>
          </pc:sldLayoutMkLst>
          <pc:spChg chg="mod">
            <ac:chgData name="Ndu Project" userId="d565df2aa69a0f45" providerId="LiveId" clId="{4866394B-2C88-4410-869E-8B3EF3FC32F9}" dt="2026-06-23T06:53:57.096" v="26" actId="20577"/>
            <ac:spMkLst>
              <pc:docMk/>
              <pc:sldMasterMk cId="3217367886" sldId="2147483648"/>
              <pc:sldLayoutMk cId="1576899903" sldId="2147483649"/>
              <ac:spMk id="5" creationId="{F1BF32B5-0381-8BFE-9A8A-5389BC7D9C7F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0967-70E1-E086-EA4C-075A5A799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4AC12-81D3-E845-A8B8-E6BC30EF2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5ED6D-368F-BD22-467B-14E84763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32B5-0381-8BFE-9A8A-5389BC7D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NduProject.com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0A81-CBFB-EFA8-BB7F-BF9870DB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9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E280-2D2E-7EC2-8710-DBC31C46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DF2D-669C-17DB-A5F1-EBDCAC5F2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A913-3FF0-34CC-D8FD-0BD95D4E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0490B-96BF-DA99-B950-FA24648A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FD8C3-6972-4E4B-CA1C-1BAC9CD3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0A9A-033A-0C4B-C778-2FD515AA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BE911-A65A-8A34-B8EA-707C4B03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3255-8FAC-70DF-BE1B-BC9EC50E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8440-56F8-503B-7CDA-914DD5F4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2EB76-E40B-4A0B-610A-47E47865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6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74B1-5DAA-1C5D-36F2-73AF56C1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56976-72AB-9E38-F36A-A38213F02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8621E-2D56-D912-E810-FF7ACB639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8C603-AAA0-EF4C-81FC-917AAE47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F6D39-8695-F0A7-B800-D6E65F66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496C2-BE9E-D030-B680-1B4B87F6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9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A785-EDD0-020A-ABB1-A89AA46E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1857-FE09-55DB-E3CE-727348B0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D7A07-2836-D821-644B-471B47E21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41A8B-C873-D9FB-BA45-491DB250A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93F17-6C71-7CA0-1556-F2210AA6A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7AA04-BF6F-CC7F-C0AB-E5C4E213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159F3-0D95-0B5C-92FA-3507BE60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DF7F5-CF18-F7EB-6FB8-014BC716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5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5712-4713-A8B9-0B32-2687E6DD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2A9CB-EEE8-90CC-BDE3-8B2BD0C59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CFAAF-CB58-CEE8-5EAC-F3C7CEA8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55E68-FF76-8621-8FD2-A6E7F1DD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2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FF7DC-AEB8-8C17-84A1-FE51B3C1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4F5DD-C213-161D-16F4-C2ED6AE3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50FCD-D684-3335-0028-E60F6F4A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3CB8-35BB-1184-9805-D2A60ADC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A688F-7881-7CB3-F14A-9635D651E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D275C-3E45-0987-72EE-0445E0812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3F62C-AD0B-3C23-66BB-32DDF59F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790E6-66CF-9407-E13C-EB95394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5B8F-1E76-6573-D991-E293D14F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9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5B4B-8187-B883-62C2-FFD2272E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71811-C8DB-0D54-25C1-7E1A1381C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2CD64-68BE-9A80-3130-AF6CCCB5C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79C35-7521-2F04-2B73-859C2DC3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6C226-332E-D682-731B-1649AF6B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5922A-B2DA-B119-554B-AA941B38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64E0-A62F-B76F-AD35-AA6CDC62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2151F-0DBD-1E8D-F210-1DF42628D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492C7-5E1A-5D7F-BD5E-D857F6D8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4DAA4-236F-0371-9072-62C9DF4C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DCA98-B524-5FC5-1F78-6BACC5AC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3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46AF38-83ED-C43A-5D99-D4387C071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54F16-CD89-36FB-4929-DDA616F02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5DB94-28B9-0AE3-A6B6-573D6376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C2EA2-003E-461C-049F-6937457B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792B-42B2-BBB3-2C29-E74188DB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2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02CCD-2514-CB38-AFC3-4BD8BDA2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4D9C6-35B7-662D-3F8C-F965415E0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3A1F-AA89-B97B-0C1F-4C0786BF1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AB46D-9D08-727B-D5ED-B4A4DD7E9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F625D-9D50-FDAD-D10B-9263F7DEB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6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0;p82">
            <a:extLst>
              <a:ext uri="{FF2B5EF4-FFF2-40B4-BE49-F238E27FC236}">
                <a16:creationId xmlns:a16="http://schemas.microsoft.com/office/drawing/2014/main" id="{FDBD92B9-C418-88CA-3ADD-A9E72BD163E3}"/>
              </a:ext>
            </a:extLst>
          </p:cNvPr>
          <p:cNvSpPr txBox="1">
            <a:spLocks/>
          </p:cNvSpPr>
          <p:nvPr/>
        </p:nvSpPr>
        <p:spPr>
          <a:xfrm>
            <a:off x="226740" y="107540"/>
            <a:ext cx="5869260" cy="4439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6769"/>
                </a:solidFill>
                <a:latin typeface="IBM Plex Sans Light"/>
                <a:ea typeface="Calibri" panose="020F0502020204030204" pitchFamily="34" charset="0"/>
                <a:cs typeface="Calibri"/>
                <a:sym typeface="Avenir"/>
              </a:rPr>
              <a:t>Ndu Project PDOS MVP</a:t>
            </a:r>
            <a:endParaRPr lang="en-US" sz="3200" b="1" dirty="0">
              <a:solidFill>
                <a:srgbClr val="336769"/>
              </a:solidFill>
              <a:latin typeface="IBM Plex Sans Light"/>
              <a:ea typeface="Calibri" panose="020F0502020204030204" pitchFamily="34" charset="0"/>
              <a:cs typeface="Calibri"/>
            </a:endParaRPr>
          </a:p>
        </p:txBody>
      </p:sp>
      <p:sp>
        <p:nvSpPr>
          <p:cNvPr id="5" name="Google Shape;581;p82">
            <a:extLst>
              <a:ext uri="{FF2B5EF4-FFF2-40B4-BE49-F238E27FC236}">
                <a16:creationId xmlns:a16="http://schemas.microsoft.com/office/drawing/2014/main" id="{4C4F2DA0-CD22-3A8D-51AD-D905F22B3D96}"/>
              </a:ext>
            </a:extLst>
          </p:cNvPr>
          <p:cNvSpPr txBox="1">
            <a:spLocks/>
          </p:cNvSpPr>
          <p:nvPr/>
        </p:nvSpPr>
        <p:spPr>
          <a:xfrm>
            <a:off x="300488" y="618399"/>
            <a:ext cx="5510616" cy="12952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200" b="1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Overall Update: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Project Plan completed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Project Requirements Document (PRD) completed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Project Jira set up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Project schedule pending staffing update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Project cost pending staffing update</a:t>
            </a:r>
          </a:p>
          <a:p>
            <a:pPr marL="33866" lvl="1">
              <a:spcBef>
                <a:spcPts val="400"/>
              </a:spcBef>
              <a:buSzPts val="1000"/>
            </a:pPr>
            <a:endParaRPr lang="en" sz="1333" dirty="0">
              <a:latin typeface="IBM Plex Sans" panose="020B0503050203000203" pitchFamily="34" charset="0"/>
            </a:endParaRPr>
          </a:p>
        </p:txBody>
      </p:sp>
      <p:graphicFrame>
        <p:nvGraphicFramePr>
          <p:cNvPr id="6" name="Google Shape;584;p82" descr="8 column, 6 row portfolio matrix table example">
            <a:extLst>
              <a:ext uri="{FF2B5EF4-FFF2-40B4-BE49-F238E27FC236}">
                <a16:creationId xmlns:a16="http://schemas.microsoft.com/office/drawing/2014/main" id="{33D88265-8898-BBF2-6305-FD1FC0DD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46649"/>
              </p:ext>
            </p:extLst>
          </p:nvPr>
        </p:nvGraphicFramePr>
        <p:xfrm>
          <a:off x="10199392" y="67325"/>
          <a:ext cx="1885813" cy="32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81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</a:tblGrid>
              <a:tr h="321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June 2026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581;p82">
            <a:extLst>
              <a:ext uri="{FF2B5EF4-FFF2-40B4-BE49-F238E27FC236}">
                <a16:creationId xmlns:a16="http://schemas.microsoft.com/office/drawing/2014/main" id="{D8636BBD-6080-D35D-5401-74A81007CC8D}"/>
              </a:ext>
            </a:extLst>
          </p:cNvPr>
          <p:cNvSpPr txBox="1">
            <a:spLocks/>
          </p:cNvSpPr>
          <p:nvPr/>
        </p:nvSpPr>
        <p:spPr>
          <a:xfrm>
            <a:off x="262678" y="1980536"/>
            <a:ext cx="5510616" cy="44754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Product Managers Activities: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PRD mapping to project scope completed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Jira activities ongoing</a:t>
            </a:r>
          </a:p>
          <a:p>
            <a:pPr marL="837549" lvl="2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Change Epics to Features using provided and agreed on nomenclature</a:t>
            </a:r>
          </a:p>
          <a:p>
            <a:pPr marL="837549" lvl="2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Reflect Stories per provided guidelines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Design review for landing page and pharmacy page in progress</a:t>
            </a:r>
          </a:p>
          <a:p>
            <a:pPr marL="0" indent="0">
              <a:spcBef>
                <a:spcPts val="400"/>
              </a:spcBef>
            </a:pPr>
            <a:endParaRPr lang="en" sz="2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Designer Activities</a:t>
            </a: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Update landing page to reflect new direction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Implement comments to Pharmacy page when available</a:t>
            </a:r>
          </a:p>
          <a:p>
            <a:pPr marL="33655" lvl="1" indent="0">
              <a:spcBef>
                <a:spcPts val="400"/>
              </a:spcBef>
              <a:buSzPts val="1000"/>
              <a:buFont typeface="Arial"/>
              <a:buNone/>
              <a:tabLst>
                <a:tab pos="1219170" algn="l"/>
              </a:tabLst>
            </a:pPr>
            <a:endParaRPr lang="en-US" sz="300" kern="0" dirty="0">
              <a:latin typeface="IBM Plex Sans Light" panose="020B0403050203000203" pitchFamily="34" charset="0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Product Design and Marketing Activities</a:t>
            </a: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:</a:t>
            </a:r>
            <a:endParaRPr lang="en-US" sz="1600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Align with designer on landing page and pharmacy page updates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Commence on design for other pages 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ea typeface="Calibri" panose="020F0502020204030204" pitchFamily="34" charset="0"/>
              </a:rPr>
              <a:t>Update project tracking log to reflect status</a:t>
            </a:r>
          </a:p>
          <a:p>
            <a:pPr marL="0"/>
            <a:endParaRPr lang="en-US" sz="3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Web Developers Activities</a:t>
            </a: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:</a:t>
            </a:r>
            <a:endParaRPr lang="en-US" sz="1600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Completed system architecture design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ea typeface="Calibri" panose="020F0502020204030204" pitchFamily="34" charset="0"/>
              </a:rPr>
              <a:t>Waiting on development start</a:t>
            </a:r>
          </a:p>
          <a:p>
            <a:pPr marL="0"/>
            <a:endParaRPr lang="en-US" sz="300" kern="0" dirty="0">
              <a:latin typeface="Calibri" panose="020F0502020204030204" pitchFamily="34" charset="0"/>
              <a:ea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Mobile Developers Activities</a:t>
            </a: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Waiting on Landing page UI design completion to progress the architecture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Completed pattern design for mobile app application</a:t>
            </a:r>
          </a:p>
          <a:p>
            <a:pPr marL="0" indent="0">
              <a:spcBef>
                <a:spcPts val="400"/>
              </a:spcBef>
            </a:pPr>
            <a:endParaRPr lang="en-US" sz="12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8" name="Google Shape;584;p82" descr="8 column, 6 row portfolio matrix table example">
            <a:extLst>
              <a:ext uri="{FF2B5EF4-FFF2-40B4-BE49-F238E27FC236}">
                <a16:creationId xmlns:a16="http://schemas.microsoft.com/office/drawing/2014/main" id="{997F5E29-8682-E67C-75FE-C755BF9C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0601"/>
              </p:ext>
            </p:extLst>
          </p:nvPr>
        </p:nvGraphicFramePr>
        <p:xfrm>
          <a:off x="6021959" y="517956"/>
          <a:ext cx="3980308" cy="1111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05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  <a:gridCol w="9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062">
                  <a:extLst>
                    <a:ext uri="{9D8B030D-6E8A-4147-A177-3AD203B41FA5}">
                      <a16:colId xmlns:a16="http://schemas.microsoft.com/office/drawing/2014/main" val="234619276"/>
                    </a:ext>
                  </a:extLst>
                </a:gridCol>
              </a:tblGrid>
              <a:tr h="4097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Status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05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</a:t>
                      </a:r>
                      <a:endParaRPr sz="105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Design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Development</a:t>
                      </a:r>
                      <a:endParaRPr sz="8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Release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" sz="900" i="0" u="none" strike="noStrike" cap="none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Now</a:t>
                      </a:r>
                      <a:endParaRPr sz="900" i="0" u="none" strike="noStrike" cap="none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  <a:tabLst/>
                        <a:defRPr/>
                      </a:pPr>
                      <a:endParaRPr lang="en-US"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i="1" u="none" strike="noStrike" cap="none" dirty="0">
                          <a:solidFill>
                            <a:schemeClr val="bg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Trending</a:t>
                      </a:r>
                      <a:endParaRPr sz="900" i="1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589;p82">
            <a:extLst>
              <a:ext uri="{FF2B5EF4-FFF2-40B4-BE49-F238E27FC236}">
                <a16:creationId xmlns:a16="http://schemas.microsoft.com/office/drawing/2014/main" id="{C7763215-B682-129E-7F50-CEBCEA8D2C20}"/>
              </a:ext>
            </a:extLst>
          </p:cNvPr>
          <p:cNvSpPr/>
          <p:nvPr/>
        </p:nvSpPr>
        <p:spPr>
          <a:xfrm>
            <a:off x="8641341" y="1358470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589;p82">
            <a:extLst>
              <a:ext uri="{FF2B5EF4-FFF2-40B4-BE49-F238E27FC236}">
                <a16:creationId xmlns:a16="http://schemas.microsoft.com/office/drawing/2014/main" id="{94432682-A43D-7E11-B321-9DE68D52B482}"/>
              </a:ext>
            </a:extLst>
          </p:cNvPr>
          <p:cNvSpPr/>
          <p:nvPr/>
        </p:nvSpPr>
        <p:spPr>
          <a:xfrm>
            <a:off x="8647598" y="990710"/>
            <a:ext cx="243840" cy="24384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589;p82">
            <a:extLst>
              <a:ext uri="{FF2B5EF4-FFF2-40B4-BE49-F238E27FC236}">
                <a16:creationId xmlns:a16="http://schemas.microsoft.com/office/drawing/2014/main" id="{75B5349F-7086-3D30-E092-8312FDEAD8ED}"/>
              </a:ext>
            </a:extLst>
          </p:cNvPr>
          <p:cNvSpPr/>
          <p:nvPr/>
        </p:nvSpPr>
        <p:spPr>
          <a:xfrm>
            <a:off x="7016779" y="1358470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589;p82">
            <a:extLst>
              <a:ext uri="{FF2B5EF4-FFF2-40B4-BE49-F238E27FC236}">
                <a16:creationId xmlns:a16="http://schemas.microsoft.com/office/drawing/2014/main" id="{9CBCC08F-B807-5D18-017D-C071EE6C01F2}"/>
              </a:ext>
            </a:extLst>
          </p:cNvPr>
          <p:cNvSpPr/>
          <p:nvPr/>
        </p:nvSpPr>
        <p:spPr>
          <a:xfrm>
            <a:off x="7856498" y="1350791"/>
            <a:ext cx="243840" cy="24384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589;p82">
            <a:extLst>
              <a:ext uri="{FF2B5EF4-FFF2-40B4-BE49-F238E27FC236}">
                <a16:creationId xmlns:a16="http://schemas.microsoft.com/office/drawing/2014/main" id="{88E890C6-8725-5E52-D7E9-8776FA4D467F}"/>
              </a:ext>
            </a:extLst>
          </p:cNvPr>
          <p:cNvSpPr/>
          <p:nvPr/>
        </p:nvSpPr>
        <p:spPr>
          <a:xfrm>
            <a:off x="7856498" y="990710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89;p82">
            <a:extLst>
              <a:ext uri="{FF2B5EF4-FFF2-40B4-BE49-F238E27FC236}">
                <a16:creationId xmlns:a16="http://schemas.microsoft.com/office/drawing/2014/main" id="{610B602B-CEFE-F8BC-8227-69AFE324CF19}"/>
              </a:ext>
            </a:extLst>
          </p:cNvPr>
          <p:cNvSpPr/>
          <p:nvPr/>
        </p:nvSpPr>
        <p:spPr>
          <a:xfrm>
            <a:off x="7016779" y="990710"/>
            <a:ext cx="243840" cy="243840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589;p82">
            <a:extLst>
              <a:ext uri="{FF2B5EF4-FFF2-40B4-BE49-F238E27FC236}">
                <a16:creationId xmlns:a16="http://schemas.microsoft.com/office/drawing/2014/main" id="{31A23C30-DD83-8053-6C31-345DB7F50F30}"/>
              </a:ext>
            </a:extLst>
          </p:cNvPr>
          <p:cNvSpPr/>
          <p:nvPr/>
        </p:nvSpPr>
        <p:spPr>
          <a:xfrm>
            <a:off x="10199392" y="538620"/>
            <a:ext cx="200779" cy="191246"/>
          </a:xfrm>
          <a:prstGeom prst="ellipse">
            <a:avLst/>
          </a:prstGeom>
          <a:solidFill>
            <a:srgbClr val="00B05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6" name="Google Shape;589;p82">
            <a:extLst>
              <a:ext uri="{FF2B5EF4-FFF2-40B4-BE49-F238E27FC236}">
                <a16:creationId xmlns:a16="http://schemas.microsoft.com/office/drawing/2014/main" id="{CAEE9CA6-D334-D4B6-7781-4DD31AF04639}"/>
              </a:ext>
            </a:extLst>
          </p:cNvPr>
          <p:cNvSpPr/>
          <p:nvPr/>
        </p:nvSpPr>
        <p:spPr>
          <a:xfrm>
            <a:off x="10199394" y="829474"/>
            <a:ext cx="200779" cy="191246"/>
          </a:xfrm>
          <a:prstGeom prst="ellipse">
            <a:avLst/>
          </a:prstGeom>
          <a:solidFill>
            <a:srgbClr val="FFFF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7" name="Google Shape;589;p82">
            <a:extLst>
              <a:ext uri="{FF2B5EF4-FFF2-40B4-BE49-F238E27FC236}">
                <a16:creationId xmlns:a16="http://schemas.microsoft.com/office/drawing/2014/main" id="{CB1702CD-156C-8F98-81CB-327461327623}"/>
              </a:ext>
            </a:extLst>
          </p:cNvPr>
          <p:cNvSpPr/>
          <p:nvPr/>
        </p:nvSpPr>
        <p:spPr>
          <a:xfrm>
            <a:off x="10199392" y="1132504"/>
            <a:ext cx="200779" cy="191246"/>
          </a:xfrm>
          <a:prstGeom prst="ellipse">
            <a:avLst/>
          </a:prstGeom>
          <a:solidFill>
            <a:srgbClr val="FF00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8" name="Rectangle 3981">
            <a:extLst>
              <a:ext uri="{FF2B5EF4-FFF2-40B4-BE49-F238E27FC236}">
                <a16:creationId xmlns:a16="http://schemas.microsoft.com/office/drawing/2014/main" id="{228FB27F-5BE5-0408-74CB-C5D086AB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508011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On target OR Done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9" name="Rectangle 3981">
            <a:extLst>
              <a:ext uri="{FF2B5EF4-FFF2-40B4-BE49-F238E27FC236}">
                <a16:creationId xmlns:a16="http://schemas.microsoft.com/office/drawing/2014/main" id="{B6D7B758-8AF1-7BDC-94F4-07924A8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814528"/>
            <a:ext cx="1285920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Possible Issues</a:t>
            </a:r>
          </a:p>
        </p:txBody>
      </p:sp>
      <p:sp>
        <p:nvSpPr>
          <p:cNvPr id="20" name="Rectangle 3981">
            <a:extLst>
              <a:ext uri="{FF2B5EF4-FFF2-40B4-BE49-F238E27FC236}">
                <a16:creationId xmlns:a16="http://schemas.microsoft.com/office/drawing/2014/main" id="{36F0CAC1-0A3F-C507-9643-BC6C3A4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098493"/>
            <a:ext cx="1844318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Major Issues OR Not Started</a:t>
            </a:r>
          </a:p>
        </p:txBody>
      </p:sp>
      <p:sp>
        <p:nvSpPr>
          <p:cNvPr id="21" name="Google Shape;589;p82">
            <a:extLst>
              <a:ext uri="{FF2B5EF4-FFF2-40B4-BE49-F238E27FC236}">
                <a16:creationId xmlns:a16="http://schemas.microsoft.com/office/drawing/2014/main" id="{3348C4DF-9ADC-E252-B5BC-7BF089213698}"/>
              </a:ext>
            </a:extLst>
          </p:cNvPr>
          <p:cNvSpPr/>
          <p:nvPr/>
        </p:nvSpPr>
        <p:spPr>
          <a:xfrm>
            <a:off x="9481060" y="1340157"/>
            <a:ext cx="243840" cy="24384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589;p82">
            <a:extLst>
              <a:ext uri="{FF2B5EF4-FFF2-40B4-BE49-F238E27FC236}">
                <a16:creationId xmlns:a16="http://schemas.microsoft.com/office/drawing/2014/main" id="{847F1231-7C18-140D-B071-4AABDB141E42}"/>
              </a:ext>
            </a:extLst>
          </p:cNvPr>
          <p:cNvSpPr/>
          <p:nvPr/>
        </p:nvSpPr>
        <p:spPr>
          <a:xfrm>
            <a:off x="9481060" y="990710"/>
            <a:ext cx="243840" cy="243840"/>
          </a:xfrm>
          <a:prstGeom prst="ellipse">
            <a:avLst/>
          </a:prstGeom>
          <a:solidFill>
            <a:srgbClr val="0070C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589;p82">
            <a:extLst>
              <a:ext uri="{FF2B5EF4-FFF2-40B4-BE49-F238E27FC236}">
                <a16:creationId xmlns:a16="http://schemas.microsoft.com/office/drawing/2014/main" id="{2D5AC512-671E-4F85-9F92-31F51C21F5ED}"/>
              </a:ext>
            </a:extLst>
          </p:cNvPr>
          <p:cNvSpPr/>
          <p:nvPr/>
        </p:nvSpPr>
        <p:spPr>
          <a:xfrm>
            <a:off x="10199392" y="1418255"/>
            <a:ext cx="200779" cy="191246"/>
          </a:xfrm>
          <a:prstGeom prst="ellipse">
            <a:avLst/>
          </a:prstGeom>
          <a:solidFill>
            <a:srgbClr val="0070C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4" name="Rectangle 3981">
            <a:extLst>
              <a:ext uri="{FF2B5EF4-FFF2-40B4-BE49-F238E27FC236}">
                <a16:creationId xmlns:a16="http://schemas.microsoft.com/office/drawing/2014/main" id="{D0BCB605-EC6E-B523-30E1-572131DF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411613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Not applicable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Google Shape;581;p82">
            <a:extLst>
              <a:ext uri="{FF2B5EF4-FFF2-40B4-BE49-F238E27FC236}">
                <a16:creationId xmlns:a16="http://schemas.microsoft.com/office/drawing/2014/main" id="{E57DC761-D1DF-1794-B8CB-E0F69C7AB40B}"/>
              </a:ext>
            </a:extLst>
          </p:cNvPr>
          <p:cNvSpPr txBox="1">
            <a:spLocks/>
          </p:cNvSpPr>
          <p:nvPr/>
        </p:nvSpPr>
        <p:spPr>
          <a:xfrm>
            <a:off x="6021958" y="1707304"/>
            <a:ext cx="5978363" cy="44754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Recent Accomplishments/Activities: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Web development architecture and planning complete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Mobile development architecture complete 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Landing page design almost complete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Planned Activities:</a:t>
            </a:r>
            <a:endParaRPr lang="en-US" sz="1600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Finalize landing page design 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ea typeface="Calibri" panose="020F0502020204030204" pitchFamily="34" charset="0"/>
              </a:rPr>
              <a:t>Update ADO to reflect Features and group the uploaded corresponding Stories</a:t>
            </a:r>
          </a:p>
          <a:p>
            <a:pPr marL="0"/>
            <a:endParaRPr lang="en-US" sz="300" kern="0" dirty="0">
              <a:latin typeface="Calibri" panose="020F0502020204030204" pitchFamily="34" charset="0"/>
              <a:ea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Issues:</a:t>
            </a:r>
          </a:p>
          <a:p>
            <a:pPr marL="33655" lvl="1" indent="0">
              <a:spcBef>
                <a:spcPts val="400"/>
              </a:spcBef>
              <a:buSzPts val="1000"/>
              <a:buNone/>
              <a:tabLst>
                <a:tab pos="1219170" algn="l"/>
              </a:tabLst>
            </a:pPr>
            <a:r>
              <a:rPr lang="en-US" sz="900" b="1" kern="0" dirty="0">
                <a:latin typeface="IBM Plex Sans Light"/>
                <a:sym typeface="IBM Plex Sans"/>
              </a:rPr>
              <a:t>Overall</a:t>
            </a:r>
            <a:r>
              <a:rPr lang="en-US" sz="900" kern="0" dirty="0">
                <a:latin typeface="IBM Plex Sans Light"/>
                <a:sym typeface="IBM Plex Sans"/>
              </a:rPr>
              <a:t>:-</a:t>
            </a:r>
          </a:p>
          <a:p>
            <a:pPr marL="205105" lvl="1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Project staffing is causing delay to development start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Limited Jira functionalities has led to some re-adjustments to process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Last minute directional change to already reviewed landing page design has resulted in rework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Reduced transparency on internal decisions that directly impact the project</a:t>
            </a:r>
          </a:p>
          <a:p>
            <a:pPr marL="33655" lvl="1" indent="0">
              <a:spcBef>
                <a:spcPts val="400"/>
              </a:spcBef>
              <a:buSzPts val="1000"/>
              <a:buNone/>
              <a:tabLst>
                <a:tab pos="1219170" algn="l"/>
              </a:tabLst>
            </a:pPr>
            <a:endParaRPr lang="en-US" sz="200" kern="0" dirty="0">
              <a:latin typeface="IBM Plex Sans Light"/>
              <a:sym typeface="IBM Plex Sans"/>
            </a:endParaRPr>
          </a:p>
          <a:p>
            <a:pPr marL="33655" lvl="1" indent="0">
              <a:spcBef>
                <a:spcPts val="400"/>
              </a:spcBef>
              <a:buSzPts val="1000"/>
              <a:buNone/>
              <a:tabLst>
                <a:tab pos="1219170" algn="l"/>
              </a:tabLst>
            </a:pPr>
            <a:r>
              <a:rPr lang="en-US" sz="900" b="1" kern="0" dirty="0">
                <a:latin typeface="IBM Plex Sans Light"/>
                <a:sym typeface="IBM Plex Sans"/>
              </a:rPr>
              <a:t>Design</a:t>
            </a:r>
            <a:r>
              <a:rPr lang="en-US" sz="900" kern="0" dirty="0">
                <a:latin typeface="IBM Plex Sans Light"/>
                <a:sym typeface="IBM Plex Sans"/>
              </a:rPr>
              <a:t>:-</a:t>
            </a:r>
          </a:p>
          <a:p>
            <a:pPr marL="205105" lvl="1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Bottleneck to the design process given there is one designer</a:t>
            </a:r>
          </a:p>
          <a:p>
            <a:pPr marL="814689" lvl="2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May lead to further delays once project team ramps up</a:t>
            </a:r>
          </a:p>
          <a:p>
            <a:pPr marL="205105" lvl="1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Landing page 1</a:t>
            </a:r>
            <a:r>
              <a:rPr lang="en-US" sz="900" kern="0" baseline="30000" dirty="0">
                <a:latin typeface="IBM Plex Sans Light"/>
                <a:sym typeface="IBM Plex Sans"/>
              </a:rPr>
              <a:t>st</a:t>
            </a:r>
            <a:r>
              <a:rPr lang="en-US" sz="900" kern="0" dirty="0">
                <a:latin typeface="IBM Plex Sans Light"/>
                <a:sym typeface="IBM Plex Sans"/>
              </a:rPr>
              <a:t> draft issued</a:t>
            </a:r>
          </a:p>
          <a:p>
            <a:pPr marL="814689" lvl="2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Review in progress</a:t>
            </a:r>
          </a:p>
          <a:p>
            <a:pPr marL="814689" lvl="2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Update to a few banners</a:t>
            </a:r>
          </a:p>
          <a:p>
            <a:pPr marL="205105" lvl="1" indent="-17145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  <a:sym typeface="IBM Plex Sans"/>
              </a:rPr>
              <a:t>Pharmacy page design was scheduled for June 12</a:t>
            </a:r>
            <a:r>
              <a:rPr lang="en-US" sz="900" kern="0" baseline="30000" dirty="0">
                <a:latin typeface="IBM Plex Sans Light"/>
                <a:sym typeface="IBM Plex Sans"/>
              </a:rPr>
              <a:t>th</a:t>
            </a:r>
            <a:r>
              <a:rPr lang="en-US" sz="900" kern="0" dirty="0">
                <a:latin typeface="IBM Plex Sans Light"/>
                <a:sym typeface="IBM Plex Sans"/>
              </a:rPr>
              <a:t> review start. This have been delayed.</a:t>
            </a:r>
          </a:p>
          <a:p>
            <a:pPr marL="33655" lvl="1" indent="0">
              <a:spcBef>
                <a:spcPts val="400"/>
              </a:spcBef>
              <a:buSzPts val="1000"/>
              <a:buNone/>
              <a:tabLst>
                <a:tab pos="1219170" algn="l"/>
              </a:tabLst>
            </a:pPr>
            <a:r>
              <a:rPr lang="en-US" sz="900" b="1" kern="0" dirty="0">
                <a:latin typeface="IBM Plex Sans Light"/>
                <a:sym typeface="IBM Plex Sans"/>
              </a:rPr>
              <a:t>Development</a:t>
            </a:r>
            <a:r>
              <a:rPr lang="en-US" sz="900" kern="0" dirty="0">
                <a:latin typeface="IBM Plex Sans Light"/>
                <a:sym typeface="IBM Plex Sans"/>
              </a:rPr>
              <a:t>:-</a:t>
            </a:r>
          </a:p>
          <a:p>
            <a:pPr marL="171450" indent="-171450">
              <a:spcBef>
                <a:spcPts val="400"/>
              </a:spcBef>
              <a:buFontTx/>
              <a:buChar char="-"/>
            </a:pPr>
            <a:r>
              <a:rPr lang="en-US" sz="900" kern="0" dirty="0">
                <a:latin typeface="IBM Plex Sans Light"/>
              </a:rPr>
              <a:t>Dedicated team required to fully start the execution phase</a:t>
            </a:r>
            <a:endParaRPr lang="en-US" sz="900" kern="0" dirty="0">
              <a:latin typeface="IBM Plex Sans Light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75467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317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IBM Plex Sans</vt:lpstr>
      <vt:lpstr>IBM Plex Sans Light</vt:lpstr>
      <vt:lpstr>Noto Sans Symbols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Ndu Project</dc:creator>
  <cp:lastModifiedBy>Ndu Project</cp:lastModifiedBy>
  <cp:revision>1</cp:revision>
  <dcterms:created xsi:type="dcterms:W3CDTF">2026-06-23T06:52:03Z</dcterms:created>
  <dcterms:modified xsi:type="dcterms:W3CDTF">2026-06-23T06:54:04Z</dcterms:modified>
</cp:coreProperties>
</file>