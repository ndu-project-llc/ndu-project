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du Project" userId="d565df2aa69a0f45" providerId="LiveId" clId="{4866394B-2C88-4410-869E-8B3EF3FC32F9}"/>
    <pc:docChg chg="custSel modMainMaster">
      <pc:chgData name="Ndu Project" userId="d565df2aa69a0f45" providerId="LiveId" clId="{4866394B-2C88-4410-869E-8B3EF3FC32F9}" dt="2026-06-23T06:53:57.096" v="26" actId="20577"/>
      <pc:docMkLst>
        <pc:docMk/>
      </pc:docMkLst>
      <pc:sldMasterChg chg="modSldLayout">
        <pc:chgData name="Ndu Project" userId="d565df2aa69a0f45" providerId="LiveId" clId="{4866394B-2C88-4410-869E-8B3EF3FC32F9}" dt="2026-06-23T06:53:57.096" v="26" actId="20577"/>
        <pc:sldMasterMkLst>
          <pc:docMk/>
          <pc:sldMasterMk cId="3217367886" sldId="2147483648"/>
        </pc:sldMasterMkLst>
        <pc:sldLayoutChg chg="modSp mod">
          <pc:chgData name="Ndu Project" userId="d565df2aa69a0f45" providerId="LiveId" clId="{4866394B-2C88-4410-869E-8B3EF3FC32F9}" dt="2026-06-23T06:53:57.096" v="26" actId="20577"/>
          <pc:sldLayoutMkLst>
            <pc:docMk/>
            <pc:sldMasterMk cId="3217367886" sldId="2147483648"/>
            <pc:sldLayoutMk cId="1576899903" sldId="2147483649"/>
          </pc:sldLayoutMkLst>
          <pc:spChg chg="mod">
            <ac:chgData name="Ndu Project" userId="d565df2aa69a0f45" providerId="LiveId" clId="{4866394B-2C88-4410-869E-8B3EF3FC32F9}" dt="2026-06-23T06:53:57.096" v="26" actId="20577"/>
            <ac:spMkLst>
              <pc:docMk/>
              <pc:sldMasterMk cId="3217367886" sldId="2147483648"/>
              <pc:sldLayoutMk cId="1576899903" sldId="2147483649"/>
              <ac:spMk id="5" creationId="{F1BF32B5-0381-8BFE-9A8A-5389BC7D9C7F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C0967-70E1-E086-EA4C-075A5A799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4AC12-81D3-E845-A8B8-E6BC30EF2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5ED6D-368F-BD22-467B-14E847634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F32B5-0381-8BFE-9A8A-5389BC7D9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by NduProject.com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0A81-CBFB-EFA8-BB7F-BF9870DBB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899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E280-2D2E-7EC2-8710-DBC31C46D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ADF2D-669C-17DB-A5F1-EBDCAC5F2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AA913-3FF0-34CC-D8FD-0BD95D4E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0490B-96BF-DA99-B950-FA24648A9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FD8C3-6972-4E4B-CA1C-1BAC9CD3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0A9A-033A-0C4B-C778-2FD515AA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BE911-A65A-8A34-B8EA-707C4B039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C3255-8FAC-70DF-BE1B-BC9EC50E2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78440-56F8-503B-7CDA-914DD5F48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2EB76-E40B-4A0B-610A-47E47865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664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774B1-5DAA-1C5D-36F2-73AF56C14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56976-72AB-9E38-F36A-A38213F024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38621E-2D56-D912-E810-FF7ACB639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8C603-AAA0-EF4C-81FC-917AAE47A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4F6D39-8695-F0A7-B800-D6E65F660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496C2-BE9E-D030-B680-1B4B87F69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090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AA785-EDD0-020A-ABB1-A89AA46E3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11857-FE09-55DB-E3CE-727348B09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D7A07-2836-D821-644B-471B47E21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141A8B-C873-D9FB-BA45-491DB250A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F93F17-6C71-7CA0-1556-F2210AA6A1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7AA04-BF6F-CC7F-C0AB-E5C4E213D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1159F3-0D95-0B5C-92FA-3507BE60A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DF7F5-CF18-F7EB-6FB8-014BC716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550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D5712-4713-A8B9-0B32-2687E6DD8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92A9CB-EEE8-90CC-BDE3-8B2BD0C59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2CFAAF-CB58-CEE8-5EAC-F3C7CEA8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55E68-FF76-8621-8FD2-A6E7F1DD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29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AFF7DC-AEB8-8C17-84A1-FE51B3C17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04F5DD-C213-161D-16F4-C2ED6AE3E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50FCD-D684-3335-0028-E60F6F4A0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0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E3CB8-35BB-1184-9805-D2A60ADCD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A688F-7881-7CB3-F14A-9635D651E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D275C-3E45-0987-72EE-0445E0812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63F62C-AD0B-3C23-66BB-32DDF59F0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790E6-66CF-9407-E13C-EB9539454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F5B8F-1E76-6573-D991-E293D14F9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96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5B4B-8187-B883-62C2-FFD2272E1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A71811-C8DB-0D54-25C1-7E1A1381C6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2CD64-68BE-9A80-3130-AF6CCCB5C9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79C35-7521-2F04-2B73-859C2DC37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6C226-332E-D682-731B-1649AF6BC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5922A-B2DA-B119-554B-AA941B387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17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F64E0-A62F-B76F-AD35-AA6CDC62D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2151F-0DBD-1E8D-F210-1DF42628D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492C7-5E1A-5D7F-BD5E-D857F6D8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4DAA4-236F-0371-9072-62C9DF4C5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DCA98-B524-5FC5-1F78-6BACC5ACE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37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46AF38-83ED-C43A-5D99-D4387C071D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954F16-CD89-36FB-4929-DDA616F02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5DB94-28B9-0AE3-A6B6-573D63761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C2EA2-003E-461C-049F-6937457B5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4792B-42B2-BBB3-2C29-E74188DB9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29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E02CCD-2514-CB38-AFC3-4BD8BDA2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4D9C6-35B7-662D-3F8C-F965415E0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73A1F-AA89-B97B-0C1F-4C0786BF15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12A0B-1F87-454A-BA9F-DCED58FC01F6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AB46D-9D08-727B-D5ED-B4A4DD7E9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F625D-9D50-FDAD-D10B-9263F7DEB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855C-C972-4BFC-BA08-BA67E73324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67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0;p82">
            <a:extLst>
              <a:ext uri="{FF2B5EF4-FFF2-40B4-BE49-F238E27FC236}">
                <a16:creationId xmlns:a16="http://schemas.microsoft.com/office/drawing/2014/main" id="{FDBD92B9-C418-88CA-3ADD-A9E72BD163E3}"/>
              </a:ext>
            </a:extLst>
          </p:cNvPr>
          <p:cNvSpPr txBox="1">
            <a:spLocks/>
          </p:cNvSpPr>
          <p:nvPr/>
        </p:nvSpPr>
        <p:spPr>
          <a:xfrm>
            <a:off x="226740" y="107540"/>
            <a:ext cx="5869260" cy="44396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336769"/>
                </a:solidFill>
                <a:latin typeface="IBM Plex Sans Light"/>
                <a:ea typeface="Calibri" panose="020F0502020204030204" pitchFamily="34" charset="0"/>
                <a:cs typeface="Calibri"/>
                <a:sym typeface="Avenir"/>
              </a:rPr>
              <a:t>Change Management Module — DONE</a:t>
            </a:r>
            <a:endParaRPr lang="en-US" sz="3200" b="1" dirty="0">
              <a:solidFill>
                <a:srgbClr val="336769"/>
              </a:solidFill>
              <a:latin typeface="IBM Plex Sans Light"/>
              <a:ea typeface="Calibri" panose="020F0502020204030204" pitchFamily="34" charset="0"/>
              <a:cs typeface="Calibri"/>
            </a:endParaRPr>
          </a:p>
        </p:txBody>
      </p:sp>
      <p:sp>
        <p:nvSpPr>
          <p:cNvPr id="5" name="Google Shape;581;p82">
            <a:extLst>
              <a:ext uri="{FF2B5EF4-FFF2-40B4-BE49-F238E27FC236}">
                <a16:creationId xmlns:a16="http://schemas.microsoft.com/office/drawing/2014/main" id="{4C4F2DA0-CD22-3A8D-51AD-D905F22B3D96}"/>
              </a:ext>
            </a:extLst>
          </p:cNvPr>
          <p:cNvSpPr txBox="1">
            <a:spLocks/>
          </p:cNvSpPr>
          <p:nvPr/>
        </p:nvSpPr>
        <p:spPr>
          <a:xfrm>
            <a:off x="300488" y="618399"/>
            <a:ext cx="5510616" cy="129524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400"/>
              </a:spcBef>
            </a:pPr>
            <a:r>
              <a:rPr lang="en-US" sz="1200" b="1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Overall Update: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Entire Change Management module is DONE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All 8 workspace tabs delivered and live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Firestore persistence wired end-to-end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0 analyze errors • 164/164 tests passing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Module ready for approval review</a:t>
            </a:r>
          </a:p>
        </p:txBody>
      </p:sp>
      <p:graphicFrame>
        <p:nvGraphicFramePr>
          <p:cNvPr id="6" name="Google Shape;584;p82" descr="8 column, 6 row portfolio matrix table example">
            <a:extLst>
              <a:ext uri="{FF2B5EF4-FFF2-40B4-BE49-F238E27FC236}">
                <a16:creationId xmlns:a16="http://schemas.microsoft.com/office/drawing/2014/main" id="{33D88265-8898-BBF2-6305-FD1FC0DD97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2046649"/>
              </p:ext>
            </p:extLst>
          </p:nvPr>
        </p:nvGraphicFramePr>
        <p:xfrm>
          <a:off x="10199392" y="67325"/>
          <a:ext cx="1885813" cy="3213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85813">
                  <a:extLst>
                    <a:ext uri="{9D8B030D-6E8A-4147-A177-3AD203B41FA5}">
                      <a16:colId xmlns:a16="http://schemas.microsoft.com/office/drawing/2014/main" val="1435310701"/>
                    </a:ext>
                  </a:extLst>
                </a:gridCol>
              </a:tblGrid>
              <a:tr h="3213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June 2026</a:t>
                      </a:r>
                      <a:endParaRPr sz="1100" b="1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581;p82">
            <a:extLst>
              <a:ext uri="{FF2B5EF4-FFF2-40B4-BE49-F238E27FC236}">
                <a16:creationId xmlns:a16="http://schemas.microsoft.com/office/drawing/2014/main" id="{D8636BBD-6080-D35D-5401-74A81007CC8D}"/>
              </a:ext>
            </a:extLst>
          </p:cNvPr>
          <p:cNvSpPr txBox="1">
            <a:spLocks/>
          </p:cNvSpPr>
          <p:nvPr/>
        </p:nvSpPr>
        <p:spPr>
          <a:xfrm>
            <a:off x="262678" y="1980536"/>
            <a:ext cx="5510616" cy="447549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609585" marR="0" lvl="0" indent="-304792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400"/>
              </a:spcBef>
            </a:pPr>
            <a:r>
              <a:rPr lang="en-US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Delivery Activities: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Change Register: 15 change types, 10 statuses, emergency lane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Impact assessment: 15 dimensions + weighted composite score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Approval workflow: 10 roles, 7 decisions, workflow builder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Audit trail with filters + CSV export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Apply-to-baseline with rollback + baseline history</a:t>
            </a:r>
          </a:p>
        </p:txBody>
      </p:sp>
      <p:graphicFrame>
        <p:nvGraphicFramePr>
          <p:cNvPr id="8" name="Google Shape;584;p82" descr="8 column, 6 row portfolio matrix table example">
            <a:extLst>
              <a:ext uri="{FF2B5EF4-FFF2-40B4-BE49-F238E27FC236}">
                <a16:creationId xmlns:a16="http://schemas.microsoft.com/office/drawing/2014/main" id="{997F5E29-8682-E67C-75FE-C755BF9CC9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6560601"/>
              </p:ext>
            </p:extLst>
          </p:nvPr>
        </p:nvGraphicFramePr>
        <p:xfrm>
          <a:off x="6021959" y="517956"/>
          <a:ext cx="3980308" cy="11115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5053">
                  <a:extLst>
                    <a:ext uri="{9D8B030D-6E8A-4147-A177-3AD203B41FA5}">
                      <a16:colId xmlns:a16="http://schemas.microsoft.com/office/drawing/2014/main" val="1435310701"/>
                    </a:ext>
                  </a:extLst>
                </a:gridCol>
                <a:gridCol w="907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7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062">
                  <a:extLst>
                    <a:ext uri="{9D8B030D-6E8A-4147-A177-3AD203B41FA5}">
                      <a16:colId xmlns:a16="http://schemas.microsoft.com/office/drawing/2014/main" val="234619276"/>
                    </a:ext>
                  </a:extLst>
                </a:gridCol>
              </a:tblGrid>
              <a:tr h="4097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Status</a:t>
                      </a:r>
                      <a:endParaRPr sz="1100" b="1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05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Overall</a:t>
                      </a:r>
                      <a:endParaRPr sz="105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Design</a:t>
                      </a:r>
                      <a:endParaRPr sz="110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8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Development</a:t>
                      </a:r>
                      <a:endParaRPr sz="80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Release</a:t>
                      </a:r>
                      <a:endParaRPr sz="110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" sz="900" i="0" u="none" strike="noStrike" cap="none" dirty="0">
                          <a:solidFill>
                            <a:schemeClr val="tx1"/>
                          </a:solidFill>
                          <a:latin typeface="IBM Plex Sans Light" panose="020B0403050203000203" pitchFamily="34" charset="0"/>
                          <a:ea typeface="IBM Plex Sans Light"/>
                          <a:cs typeface="IBM Plex Sans Light"/>
                          <a:sym typeface="IBM Plex Sans Light"/>
                        </a:rPr>
                        <a:t>Now</a:t>
                      </a:r>
                      <a:endParaRPr sz="900" i="0" u="none" strike="noStrike" cap="none" dirty="0">
                        <a:solidFill>
                          <a:schemeClr val="tx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  <a:tabLst/>
                        <a:defRPr/>
                      </a:pPr>
                      <a:endParaRPr lang="en-US"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4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i="1" u="none" strike="noStrike" cap="none" dirty="0">
                          <a:solidFill>
                            <a:schemeClr val="bg1"/>
                          </a:solidFill>
                          <a:latin typeface="IBM Plex Sans Light" panose="020B0403050203000203" pitchFamily="34" charset="0"/>
                          <a:ea typeface="IBM Plex Sans Light"/>
                          <a:cs typeface="IBM Plex Sans Light"/>
                          <a:sym typeface="IBM Plex Sans Light"/>
                        </a:rPr>
                        <a:t>Trending</a:t>
                      </a:r>
                      <a:endParaRPr sz="900" i="1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Google Shape;589;p82">
            <a:extLst>
              <a:ext uri="{FF2B5EF4-FFF2-40B4-BE49-F238E27FC236}">
                <a16:creationId xmlns:a16="http://schemas.microsoft.com/office/drawing/2014/main" id="{C7763215-B682-129E-7F50-CEBCEA8D2C20}"/>
              </a:ext>
            </a:extLst>
          </p:cNvPr>
          <p:cNvSpPr/>
          <p:nvPr/>
        </p:nvSpPr>
        <p:spPr>
          <a:xfrm>
            <a:off x="8641341" y="135847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00"/>
              </a:highlight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Google Shape;589;p82">
            <a:extLst>
              <a:ext uri="{FF2B5EF4-FFF2-40B4-BE49-F238E27FC236}">
                <a16:creationId xmlns:a16="http://schemas.microsoft.com/office/drawing/2014/main" id="{94432682-A43D-7E11-B321-9DE68D52B482}"/>
              </a:ext>
            </a:extLst>
          </p:cNvPr>
          <p:cNvSpPr/>
          <p:nvPr/>
        </p:nvSpPr>
        <p:spPr>
          <a:xfrm>
            <a:off x="8647598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589;p82">
            <a:extLst>
              <a:ext uri="{FF2B5EF4-FFF2-40B4-BE49-F238E27FC236}">
                <a16:creationId xmlns:a16="http://schemas.microsoft.com/office/drawing/2014/main" id="{75B5349F-7086-3D30-E092-8312FDEAD8ED}"/>
              </a:ext>
            </a:extLst>
          </p:cNvPr>
          <p:cNvSpPr/>
          <p:nvPr/>
        </p:nvSpPr>
        <p:spPr>
          <a:xfrm>
            <a:off x="7016779" y="135847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Google Shape;589;p82">
            <a:extLst>
              <a:ext uri="{FF2B5EF4-FFF2-40B4-BE49-F238E27FC236}">
                <a16:creationId xmlns:a16="http://schemas.microsoft.com/office/drawing/2014/main" id="{9CBCC08F-B807-5D18-017D-C071EE6C01F2}"/>
              </a:ext>
            </a:extLst>
          </p:cNvPr>
          <p:cNvSpPr/>
          <p:nvPr/>
        </p:nvSpPr>
        <p:spPr>
          <a:xfrm>
            <a:off x="7856498" y="1350791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Google Shape;589;p82">
            <a:extLst>
              <a:ext uri="{FF2B5EF4-FFF2-40B4-BE49-F238E27FC236}">
                <a16:creationId xmlns:a16="http://schemas.microsoft.com/office/drawing/2014/main" id="{88E890C6-8725-5E52-D7E9-8776FA4D467F}"/>
              </a:ext>
            </a:extLst>
          </p:cNvPr>
          <p:cNvSpPr/>
          <p:nvPr/>
        </p:nvSpPr>
        <p:spPr>
          <a:xfrm>
            <a:off x="7856498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589;p82">
            <a:extLst>
              <a:ext uri="{FF2B5EF4-FFF2-40B4-BE49-F238E27FC236}">
                <a16:creationId xmlns:a16="http://schemas.microsoft.com/office/drawing/2014/main" id="{610B602B-CEFE-F8BC-8227-69AFE324CF19}"/>
              </a:ext>
            </a:extLst>
          </p:cNvPr>
          <p:cNvSpPr/>
          <p:nvPr/>
        </p:nvSpPr>
        <p:spPr>
          <a:xfrm>
            <a:off x="7016779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589;p82">
            <a:extLst>
              <a:ext uri="{FF2B5EF4-FFF2-40B4-BE49-F238E27FC236}">
                <a16:creationId xmlns:a16="http://schemas.microsoft.com/office/drawing/2014/main" id="{31A23C30-DD83-8053-6C31-345DB7F50F30}"/>
              </a:ext>
            </a:extLst>
          </p:cNvPr>
          <p:cNvSpPr/>
          <p:nvPr/>
        </p:nvSpPr>
        <p:spPr>
          <a:xfrm>
            <a:off x="10199392" y="538620"/>
            <a:ext cx="200779" cy="191246"/>
          </a:xfrm>
          <a:prstGeom prst="ellipse">
            <a:avLst/>
          </a:prstGeom>
          <a:solidFill>
            <a:srgbClr val="00B05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6" name="Google Shape;589;p82">
            <a:extLst>
              <a:ext uri="{FF2B5EF4-FFF2-40B4-BE49-F238E27FC236}">
                <a16:creationId xmlns:a16="http://schemas.microsoft.com/office/drawing/2014/main" id="{CAEE9CA6-D334-D4B6-7781-4DD31AF04639}"/>
              </a:ext>
            </a:extLst>
          </p:cNvPr>
          <p:cNvSpPr/>
          <p:nvPr/>
        </p:nvSpPr>
        <p:spPr>
          <a:xfrm>
            <a:off x="10199394" y="829474"/>
            <a:ext cx="200779" cy="191246"/>
          </a:xfrm>
          <a:prstGeom prst="ellipse">
            <a:avLst/>
          </a:prstGeom>
          <a:solidFill>
            <a:srgbClr val="FFFF0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7" name="Google Shape;589;p82">
            <a:extLst>
              <a:ext uri="{FF2B5EF4-FFF2-40B4-BE49-F238E27FC236}">
                <a16:creationId xmlns:a16="http://schemas.microsoft.com/office/drawing/2014/main" id="{CB1702CD-156C-8F98-81CB-327461327623}"/>
              </a:ext>
            </a:extLst>
          </p:cNvPr>
          <p:cNvSpPr/>
          <p:nvPr/>
        </p:nvSpPr>
        <p:spPr>
          <a:xfrm>
            <a:off x="10199392" y="1132504"/>
            <a:ext cx="200779" cy="191246"/>
          </a:xfrm>
          <a:prstGeom prst="ellipse">
            <a:avLst/>
          </a:prstGeom>
          <a:solidFill>
            <a:srgbClr val="FF000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8" name="Rectangle 3981">
            <a:extLst>
              <a:ext uri="{FF2B5EF4-FFF2-40B4-BE49-F238E27FC236}">
                <a16:creationId xmlns:a16="http://schemas.microsoft.com/office/drawing/2014/main" id="{228FB27F-5BE5-0408-74CB-C5D086ABB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508011"/>
            <a:ext cx="1389217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900" b="1" dirty="0">
                <a:solidFill>
                  <a:srgbClr val="000000"/>
                </a:solidFill>
                <a:latin typeface="IBM Plex Sans"/>
                <a:ea typeface="MS Gothic" panose="020B0609070205080204" pitchFamily="49" charset="-128"/>
              </a:rPr>
              <a:t>On target OR Done</a:t>
            </a:r>
            <a:endParaRPr kumimoji="0" lang="en-US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/>
              <a:ea typeface="MS Gothic" panose="020B0609070205080204" pitchFamily="49" charset="-128"/>
              <a:cs typeface="Arial" panose="020B0604020202020204" pitchFamily="34" charset="0"/>
            </a:endParaRPr>
          </a:p>
        </p:txBody>
      </p:sp>
      <p:sp>
        <p:nvSpPr>
          <p:cNvPr id="19" name="Rectangle 3981">
            <a:extLst>
              <a:ext uri="{FF2B5EF4-FFF2-40B4-BE49-F238E27FC236}">
                <a16:creationId xmlns:a16="http://schemas.microsoft.com/office/drawing/2014/main" id="{B6D7B758-8AF1-7BDC-94F4-07924A82E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814528"/>
            <a:ext cx="1285920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MS Gothic" panose="020B0609070205080204" pitchFamily="49" charset="-128"/>
                <a:cs typeface="Arial" panose="020B0604020202020204" pitchFamily="34" charset="0"/>
              </a:rPr>
              <a:t>Possible Issues</a:t>
            </a:r>
          </a:p>
        </p:txBody>
      </p:sp>
      <p:sp>
        <p:nvSpPr>
          <p:cNvPr id="20" name="Rectangle 3981">
            <a:extLst>
              <a:ext uri="{FF2B5EF4-FFF2-40B4-BE49-F238E27FC236}">
                <a16:creationId xmlns:a16="http://schemas.microsoft.com/office/drawing/2014/main" id="{36F0CAC1-0A3F-C507-9643-BC6C3A463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1098493"/>
            <a:ext cx="1844318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MS Gothic" panose="020B0609070205080204" pitchFamily="49" charset="-128"/>
                <a:cs typeface="Arial" panose="020B0604020202020204" pitchFamily="34" charset="0"/>
              </a:rPr>
              <a:t>Major Issues OR Not Started</a:t>
            </a:r>
          </a:p>
        </p:txBody>
      </p:sp>
      <p:sp>
        <p:nvSpPr>
          <p:cNvPr id="21" name="Google Shape;589;p82">
            <a:extLst>
              <a:ext uri="{FF2B5EF4-FFF2-40B4-BE49-F238E27FC236}">
                <a16:creationId xmlns:a16="http://schemas.microsoft.com/office/drawing/2014/main" id="{3348C4DF-9ADC-E252-B5BC-7BF089213698}"/>
              </a:ext>
            </a:extLst>
          </p:cNvPr>
          <p:cNvSpPr/>
          <p:nvPr/>
        </p:nvSpPr>
        <p:spPr>
          <a:xfrm>
            <a:off x="9481060" y="1340157"/>
            <a:ext cx="243840" cy="243840"/>
          </a:xfrm>
          <a:prstGeom prst="ellipse">
            <a:avLst/>
          </a:prstGeom>
          <a:solidFill>
            <a:srgbClr val="FFFF0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589;p82">
            <a:extLst>
              <a:ext uri="{FF2B5EF4-FFF2-40B4-BE49-F238E27FC236}">
                <a16:creationId xmlns:a16="http://schemas.microsoft.com/office/drawing/2014/main" id="{847F1231-7C18-140D-B071-4AABDB141E42}"/>
              </a:ext>
            </a:extLst>
          </p:cNvPr>
          <p:cNvSpPr/>
          <p:nvPr/>
        </p:nvSpPr>
        <p:spPr>
          <a:xfrm>
            <a:off x="9481060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589;p82">
            <a:extLst>
              <a:ext uri="{FF2B5EF4-FFF2-40B4-BE49-F238E27FC236}">
                <a16:creationId xmlns:a16="http://schemas.microsoft.com/office/drawing/2014/main" id="{2D5AC512-671E-4F85-9F92-31F51C21F5ED}"/>
              </a:ext>
            </a:extLst>
          </p:cNvPr>
          <p:cNvSpPr/>
          <p:nvPr/>
        </p:nvSpPr>
        <p:spPr>
          <a:xfrm>
            <a:off x="10199392" y="1418255"/>
            <a:ext cx="200779" cy="191246"/>
          </a:xfrm>
          <a:prstGeom prst="ellipse">
            <a:avLst/>
          </a:prstGeom>
          <a:solidFill>
            <a:srgbClr val="0070C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24" name="Rectangle 3981">
            <a:extLst>
              <a:ext uri="{FF2B5EF4-FFF2-40B4-BE49-F238E27FC236}">
                <a16:creationId xmlns:a16="http://schemas.microsoft.com/office/drawing/2014/main" id="{D0BCB605-EC6E-B523-30E1-572131DFC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1411613"/>
            <a:ext cx="1389217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900" b="1" dirty="0">
                <a:solidFill>
                  <a:srgbClr val="000000"/>
                </a:solidFill>
                <a:latin typeface="IBM Plex Sans"/>
                <a:ea typeface="MS Gothic" panose="020B0609070205080204" pitchFamily="49" charset="-128"/>
              </a:rPr>
              <a:t>Not applicable</a:t>
            </a:r>
            <a:endParaRPr kumimoji="0" lang="en-US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/>
              <a:ea typeface="MS Gothic" panose="020B0609070205080204" pitchFamily="49" charset="-128"/>
              <a:cs typeface="Arial" panose="020B0604020202020204" pitchFamily="34" charset="0"/>
            </a:endParaRPr>
          </a:p>
        </p:txBody>
      </p:sp>
      <p:sp>
        <p:nvSpPr>
          <p:cNvPr id="25" name="Google Shape;581;p82">
            <a:extLst>
              <a:ext uri="{FF2B5EF4-FFF2-40B4-BE49-F238E27FC236}">
                <a16:creationId xmlns:a16="http://schemas.microsoft.com/office/drawing/2014/main" id="{E57DC761-D1DF-1794-B8CB-E0F69C7AB40B}"/>
              </a:ext>
            </a:extLst>
          </p:cNvPr>
          <p:cNvSpPr txBox="1">
            <a:spLocks/>
          </p:cNvSpPr>
          <p:nvPr/>
        </p:nvSpPr>
        <p:spPr>
          <a:xfrm>
            <a:off x="6021958" y="1707304"/>
            <a:ext cx="5978363" cy="44754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609585" marR="0" lvl="0" indent="-304792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400"/>
              </a:spcBef>
            </a:pP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Recent Accomplishments/Activities:</a:t>
            </a:r>
            <a:endParaRPr lang="en-US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8-tab Change Management module completed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Firestore read + write sync secured by rules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CRs auto-populated from real project constraints</a:t>
            </a:r>
          </a:p>
          <a:p>
            <a:pPr marL="0" indent="0">
              <a:spcBef>
                <a:spcPts val="400"/>
              </a:spcBef>
            </a:pPr>
            <a:endParaRPr lang="en-US" sz="300" b="1" kern="0" dirty="0">
              <a:latin typeface="IBM Plex Sans Light" panose="020B0403050203000203" pitchFamily="34" charset="0"/>
              <a:ea typeface="IBM Plex Sans"/>
              <a:cs typeface="IBM Plex Sans"/>
              <a:sym typeface="IBM Plex Sans"/>
            </a:endParaRPr>
          </a:p>
          <a:p>
            <a:pPr marL="0" indent="0">
              <a:spcBef>
                <a:spcPts val="400"/>
              </a:spcBef>
            </a:pP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Planned Activities:</a:t>
            </a:r>
            <a:endParaRPr lang="en-US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RBAC enforcement across approval roles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Client demo / approval review session</a:t>
            </a:r>
          </a:p>
          <a:p>
            <a:pPr marL="0" indent="0">
              <a:spcBef>
                <a:spcPts val="400"/>
              </a:spcBef>
            </a:pPr>
            <a:endParaRPr lang="en-US" sz="300" b="1" kern="0" dirty="0">
              <a:latin typeface="IBM Plex Sans Light" panose="020B0403050203000203" pitchFamily="34" charset="0"/>
              <a:ea typeface="IBM Plex Sans"/>
              <a:cs typeface="IBM Plex Sans"/>
              <a:sym typeface="IBM Plex Sans"/>
            </a:endParaRPr>
          </a:p>
          <a:p>
            <a:pPr marL="0" indent="0">
              <a:spcBef>
                <a:spcPts val="400"/>
              </a:spcBef>
            </a:pP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Issues:</a:t>
            </a:r>
            <a:endParaRPr lang="en-US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None — module shipped clean (0 errors, 164 tests)</a:t>
            </a:r>
          </a:p>
        </p:txBody>
      </p:sp>
    </p:spTree>
    <p:extLst>
      <p:ext uri="{BB962C8B-B14F-4D97-AF65-F5344CB8AC3E}">
        <p14:creationId xmlns:p14="http://schemas.microsoft.com/office/powerpoint/2010/main" val="3754677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0;p82">
            <a:extLst>
              <a:ext uri="{FF2B5EF4-FFF2-40B4-BE49-F238E27FC236}">
                <a16:creationId xmlns:a16="http://schemas.microsoft.com/office/drawing/2014/main" id="{FDBD92B9-C418-88CA-3ADD-A9E72BD163E3}"/>
              </a:ext>
            </a:extLst>
          </p:cNvPr>
          <p:cNvSpPr txBox="1">
            <a:spLocks/>
          </p:cNvSpPr>
          <p:nvPr/>
        </p:nvSpPr>
        <p:spPr>
          <a:xfrm>
            <a:off x="226740" y="107540"/>
            <a:ext cx="5869260" cy="44396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336769"/>
                </a:solidFill>
                <a:latin typeface="IBM Plex Sans Light"/>
                <a:ea typeface="Calibri" panose="020F0502020204030204" pitchFamily="34" charset="0"/>
                <a:cs typeface="Calibri"/>
                <a:sym typeface="Avenir"/>
              </a:rPr>
              <a:t>Change Register &amp; Lifecycle</a:t>
            </a:r>
            <a:endParaRPr lang="en-US" sz="3200" b="1" dirty="0">
              <a:solidFill>
                <a:srgbClr val="336769"/>
              </a:solidFill>
              <a:latin typeface="IBM Plex Sans Light"/>
              <a:ea typeface="Calibri" panose="020F0502020204030204" pitchFamily="34" charset="0"/>
              <a:cs typeface="Calibri"/>
            </a:endParaRPr>
          </a:p>
        </p:txBody>
      </p:sp>
      <p:sp>
        <p:nvSpPr>
          <p:cNvPr id="5" name="Google Shape;581;p82">
            <a:extLst>
              <a:ext uri="{FF2B5EF4-FFF2-40B4-BE49-F238E27FC236}">
                <a16:creationId xmlns:a16="http://schemas.microsoft.com/office/drawing/2014/main" id="{4C4F2DA0-CD22-3A8D-51AD-D905F22B3D96}"/>
              </a:ext>
            </a:extLst>
          </p:cNvPr>
          <p:cNvSpPr txBox="1">
            <a:spLocks/>
          </p:cNvSpPr>
          <p:nvPr/>
        </p:nvSpPr>
        <p:spPr>
          <a:xfrm>
            <a:off x="300488" y="618399"/>
            <a:ext cx="5510616" cy="129524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400"/>
              </a:spcBef>
            </a:pPr>
            <a:r>
              <a:rPr lang="en-US" sz="1200" b="1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Overall Update: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Register live with real Firestore data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CR numbers auto-generated (CR-2026-XXX)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Filters: status, priority, search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Composite-impact badges on every row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Detail panel shows the approval workflow</a:t>
            </a:r>
          </a:p>
        </p:txBody>
      </p:sp>
      <p:graphicFrame>
        <p:nvGraphicFramePr>
          <p:cNvPr id="6" name="Google Shape;584;p82" descr="8 column, 6 row portfolio matrix table example">
            <a:extLst>
              <a:ext uri="{FF2B5EF4-FFF2-40B4-BE49-F238E27FC236}">
                <a16:creationId xmlns:a16="http://schemas.microsoft.com/office/drawing/2014/main" id="{33D88265-8898-BBF2-6305-FD1FC0DD97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2046649"/>
              </p:ext>
            </p:extLst>
          </p:nvPr>
        </p:nvGraphicFramePr>
        <p:xfrm>
          <a:off x="10199392" y="67325"/>
          <a:ext cx="1885813" cy="3213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85813">
                  <a:extLst>
                    <a:ext uri="{9D8B030D-6E8A-4147-A177-3AD203B41FA5}">
                      <a16:colId xmlns:a16="http://schemas.microsoft.com/office/drawing/2014/main" val="1435310701"/>
                    </a:ext>
                  </a:extLst>
                </a:gridCol>
              </a:tblGrid>
              <a:tr h="3213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June 2026</a:t>
                      </a:r>
                      <a:endParaRPr sz="1100" b="1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581;p82">
            <a:extLst>
              <a:ext uri="{FF2B5EF4-FFF2-40B4-BE49-F238E27FC236}">
                <a16:creationId xmlns:a16="http://schemas.microsoft.com/office/drawing/2014/main" id="{D8636BBD-6080-D35D-5401-74A81007CC8D}"/>
              </a:ext>
            </a:extLst>
          </p:cNvPr>
          <p:cNvSpPr txBox="1">
            <a:spLocks/>
          </p:cNvSpPr>
          <p:nvPr/>
        </p:nvSpPr>
        <p:spPr>
          <a:xfrm>
            <a:off x="262678" y="1980536"/>
            <a:ext cx="5510616" cy="447549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609585" marR="0" lvl="0" indent="-304792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400"/>
              </a:spcBef>
            </a:pPr>
            <a:r>
              <a:rPr lang="en-US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Delivery Activities: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Lifecycle: Draft → Submitted → Review → Approval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Approved → Implemented → Closed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Emergency lane for urgent changes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Rejected / Returned for Revision paths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Agile routine refinement vs controlled baseline change</a:t>
            </a:r>
          </a:p>
        </p:txBody>
      </p:sp>
      <p:graphicFrame>
        <p:nvGraphicFramePr>
          <p:cNvPr id="8" name="Google Shape;584;p82" descr="8 column, 6 row portfolio matrix table example">
            <a:extLst>
              <a:ext uri="{FF2B5EF4-FFF2-40B4-BE49-F238E27FC236}">
                <a16:creationId xmlns:a16="http://schemas.microsoft.com/office/drawing/2014/main" id="{997F5E29-8682-E67C-75FE-C755BF9CC9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6560601"/>
              </p:ext>
            </p:extLst>
          </p:nvPr>
        </p:nvGraphicFramePr>
        <p:xfrm>
          <a:off x="6021959" y="517956"/>
          <a:ext cx="3980308" cy="11115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5053">
                  <a:extLst>
                    <a:ext uri="{9D8B030D-6E8A-4147-A177-3AD203B41FA5}">
                      <a16:colId xmlns:a16="http://schemas.microsoft.com/office/drawing/2014/main" val="1435310701"/>
                    </a:ext>
                  </a:extLst>
                </a:gridCol>
                <a:gridCol w="907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7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062">
                  <a:extLst>
                    <a:ext uri="{9D8B030D-6E8A-4147-A177-3AD203B41FA5}">
                      <a16:colId xmlns:a16="http://schemas.microsoft.com/office/drawing/2014/main" val="234619276"/>
                    </a:ext>
                  </a:extLst>
                </a:gridCol>
              </a:tblGrid>
              <a:tr h="4097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Status</a:t>
                      </a:r>
                      <a:endParaRPr sz="1100" b="1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05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Overall</a:t>
                      </a:r>
                      <a:endParaRPr sz="105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Design</a:t>
                      </a:r>
                      <a:endParaRPr sz="110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8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Development</a:t>
                      </a:r>
                      <a:endParaRPr sz="80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Release</a:t>
                      </a:r>
                      <a:endParaRPr sz="110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" sz="900" i="0" u="none" strike="noStrike" cap="none" dirty="0">
                          <a:solidFill>
                            <a:schemeClr val="tx1"/>
                          </a:solidFill>
                          <a:latin typeface="IBM Plex Sans Light" panose="020B0403050203000203" pitchFamily="34" charset="0"/>
                          <a:ea typeface="IBM Plex Sans Light"/>
                          <a:cs typeface="IBM Plex Sans Light"/>
                          <a:sym typeface="IBM Plex Sans Light"/>
                        </a:rPr>
                        <a:t>Now</a:t>
                      </a:r>
                      <a:endParaRPr sz="900" i="0" u="none" strike="noStrike" cap="none" dirty="0">
                        <a:solidFill>
                          <a:schemeClr val="tx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  <a:tabLst/>
                        <a:defRPr/>
                      </a:pPr>
                      <a:endParaRPr lang="en-US"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4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i="1" u="none" strike="noStrike" cap="none" dirty="0">
                          <a:solidFill>
                            <a:schemeClr val="bg1"/>
                          </a:solidFill>
                          <a:latin typeface="IBM Plex Sans Light" panose="020B0403050203000203" pitchFamily="34" charset="0"/>
                          <a:ea typeface="IBM Plex Sans Light"/>
                          <a:cs typeface="IBM Plex Sans Light"/>
                          <a:sym typeface="IBM Plex Sans Light"/>
                        </a:rPr>
                        <a:t>Trending</a:t>
                      </a:r>
                      <a:endParaRPr sz="900" i="1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Google Shape;589;p82">
            <a:extLst>
              <a:ext uri="{FF2B5EF4-FFF2-40B4-BE49-F238E27FC236}">
                <a16:creationId xmlns:a16="http://schemas.microsoft.com/office/drawing/2014/main" id="{C7763215-B682-129E-7F50-CEBCEA8D2C20}"/>
              </a:ext>
            </a:extLst>
          </p:cNvPr>
          <p:cNvSpPr/>
          <p:nvPr/>
        </p:nvSpPr>
        <p:spPr>
          <a:xfrm>
            <a:off x="8641341" y="135847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00"/>
              </a:highlight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Google Shape;589;p82">
            <a:extLst>
              <a:ext uri="{FF2B5EF4-FFF2-40B4-BE49-F238E27FC236}">
                <a16:creationId xmlns:a16="http://schemas.microsoft.com/office/drawing/2014/main" id="{94432682-A43D-7E11-B321-9DE68D52B482}"/>
              </a:ext>
            </a:extLst>
          </p:cNvPr>
          <p:cNvSpPr/>
          <p:nvPr/>
        </p:nvSpPr>
        <p:spPr>
          <a:xfrm>
            <a:off x="8647598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589;p82">
            <a:extLst>
              <a:ext uri="{FF2B5EF4-FFF2-40B4-BE49-F238E27FC236}">
                <a16:creationId xmlns:a16="http://schemas.microsoft.com/office/drawing/2014/main" id="{75B5349F-7086-3D30-E092-8312FDEAD8ED}"/>
              </a:ext>
            </a:extLst>
          </p:cNvPr>
          <p:cNvSpPr/>
          <p:nvPr/>
        </p:nvSpPr>
        <p:spPr>
          <a:xfrm>
            <a:off x="7016779" y="135847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Google Shape;589;p82">
            <a:extLst>
              <a:ext uri="{FF2B5EF4-FFF2-40B4-BE49-F238E27FC236}">
                <a16:creationId xmlns:a16="http://schemas.microsoft.com/office/drawing/2014/main" id="{9CBCC08F-B807-5D18-017D-C071EE6C01F2}"/>
              </a:ext>
            </a:extLst>
          </p:cNvPr>
          <p:cNvSpPr/>
          <p:nvPr/>
        </p:nvSpPr>
        <p:spPr>
          <a:xfrm>
            <a:off x="7856498" y="1350791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Google Shape;589;p82">
            <a:extLst>
              <a:ext uri="{FF2B5EF4-FFF2-40B4-BE49-F238E27FC236}">
                <a16:creationId xmlns:a16="http://schemas.microsoft.com/office/drawing/2014/main" id="{88E890C6-8725-5E52-D7E9-8776FA4D467F}"/>
              </a:ext>
            </a:extLst>
          </p:cNvPr>
          <p:cNvSpPr/>
          <p:nvPr/>
        </p:nvSpPr>
        <p:spPr>
          <a:xfrm>
            <a:off x="7856498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589;p82">
            <a:extLst>
              <a:ext uri="{FF2B5EF4-FFF2-40B4-BE49-F238E27FC236}">
                <a16:creationId xmlns:a16="http://schemas.microsoft.com/office/drawing/2014/main" id="{610B602B-CEFE-F8BC-8227-69AFE324CF19}"/>
              </a:ext>
            </a:extLst>
          </p:cNvPr>
          <p:cNvSpPr/>
          <p:nvPr/>
        </p:nvSpPr>
        <p:spPr>
          <a:xfrm>
            <a:off x="7016779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589;p82">
            <a:extLst>
              <a:ext uri="{FF2B5EF4-FFF2-40B4-BE49-F238E27FC236}">
                <a16:creationId xmlns:a16="http://schemas.microsoft.com/office/drawing/2014/main" id="{31A23C30-DD83-8053-6C31-345DB7F50F30}"/>
              </a:ext>
            </a:extLst>
          </p:cNvPr>
          <p:cNvSpPr/>
          <p:nvPr/>
        </p:nvSpPr>
        <p:spPr>
          <a:xfrm>
            <a:off x="10199392" y="538620"/>
            <a:ext cx="200779" cy="191246"/>
          </a:xfrm>
          <a:prstGeom prst="ellipse">
            <a:avLst/>
          </a:prstGeom>
          <a:solidFill>
            <a:srgbClr val="00B05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6" name="Google Shape;589;p82">
            <a:extLst>
              <a:ext uri="{FF2B5EF4-FFF2-40B4-BE49-F238E27FC236}">
                <a16:creationId xmlns:a16="http://schemas.microsoft.com/office/drawing/2014/main" id="{CAEE9CA6-D334-D4B6-7781-4DD31AF04639}"/>
              </a:ext>
            </a:extLst>
          </p:cNvPr>
          <p:cNvSpPr/>
          <p:nvPr/>
        </p:nvSpPr>
        <p:spPr>
          <a:xfrm>
            <a:off x="10199394" y="829474"/>
            <a:ext cx="200779" cy="191246"/>
          </a:xfrm>
          <a:prstGeom prst="ellipse">
            <a:avLst/>
          </a:prstGeom>
          <a:solidFill>
            <a:srgbClr val="FFFF0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7" name="Google Shape;589;p82">
            <a:extLst>
              <a:ext uri="{FF2B5EF4-FFF2-40B4-BE49-F238E27FC236}">
                <a16:creationId xmlns:a16="http://schemas.microsoft.com/office/drawing/2014/main" id="{CB1702CD-156C-8F98-81CB-327461327623}"/>
              </a:ext>
            </a:extLst>
          </p:cNvPr>
          <p:cNvSpPr/>
          <p:nvPr/>
        </p:nvSpPr>
        <p:spPr>
          <a:xfrm>
            <a:off x="10199392" y="1132504"/>
            <a:ext cx="200779" cy="191246"/>
          </a:xfrm>
          <a:prstGeom prst="ellipse">
            <a:avLst/>
          </a:prstGeom>
          <a:solidFill>
            <a:srgbClr val="FF000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8" name="Rectangle 3981">
            <a:extLst>
              <a:ext uri="{FF2B5EF4-FFF2-40B4-BE49-F238E27FC236}">
                <a16:creationId xmlns:a16="http://schemas.microsoft.com/office/drawing/2014/main" id="{228FB27F-5BE5-0408-74CB-C5D086ABB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508011"/>
            <a:ext cx="1389217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900" b="1" dirty="0">
                <a:solidFill>
                  <a:srgbClr val="000000"/>
                </a:solidFill>
                <a:latin typeface="IBM Plex Sans"/>
                <a:ea typeface="MS Gothic" panose="020B0609070205080204" pitchFamily="49" charset="-128"/>
              </a:rPr>
              <a:t>On target OR Done</a:t>
            </a:r>
            <a:endParaRPr kumimoji="0" lang="en-US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/>
              <a:ea typeface="MS Gothic" panose="020B0609070205080204" pitchFamily="49" charset="-128"/>
              <a:cs typeface="Arial" panose="020B0604020202020204" pitchFamily="34" charset="0"/>
            </a:endParaRPr>
          </a:p>
        </p:txBody>
      </p:sp>
      <p:sp>
        <p:nvSpPr>
          <p:cNvPr id="19" name="Rectangle 3981">
            <a:extLst>
              <a:ext uri="{FF2B5EF4-FFF2-40B4-BE49-F238E27FC236}">
                <a16:creationId xmlns:a16="http://schemas.microsoft.com/office/drawing/2014/main" id="{B6D7B758-8AF1-7BDC-94F4-07924A82E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814528"/>
            <a:ext cx="1285920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MS Gothic" panose="020B0609070205080204" pitchFamily="49" charset="-128"/>
                <a:cs typeface="Arial" panose="020B0604020202020204" pitchFamily="34" charset="0"/>
              </a:rPr>
              <a:t>Possible Issues</a:t>
            </a:r>
          </a:p>
        </p:txBody>
      </p:sp>
      <p:sp>
        <p:nvSpPr>
          <p:cNvPr id="20" name="Rectangle 3981">
            <a:extLst>
              <a:ext uri="{FF2B5EF4-FFF2-40B4-BE49-F238E27FC236}">
                <a16:creationId xmlns:a16="http://schemas.microsoft.com/office/drawing/2014/main" id="{36F0CAC1-0A3F-C507-9643-BC6C3A463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1098493"/>
            <a:ext cx="1844318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MS Gothic" panose="020B0609070205080204" pitchFamily="49" charset="-128"/>
                <a:cs typeface="Arial" panose="020B0604020202020204" pitchFamily="34" charset="0"/>
              </a:rPr>
              <a:t>Major Issues OR Not Started</a:t>
            </a:r>
          </a:p>
        </p:txBody>
      </p:sp>
      <p:sp>
        <p:nvSpPr>
          <p:cNvPr id="21" name="Google Shape;589;p82">
            <a:extLst>
              <a:ext uri="{FF2B5EF4-FFF2-40B4-BE49-F238E27FC236}">
                <a16:creationId xmlns:a16="http://schemas.microsoft.com/office/drawing/2014/main" id="{3348C4DF-9ADC-E252-B5BC-7BF089213698}"/>
              </a:ext>
            </a:extLst>
          </p:cNvPr>
          <p:cNvSpPr/>
          <p:nvPr/>
        </p:nvSpPr>
        <p:spPr>
          <a:xfrm>
            <a:off x="9481060" y="1340157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589;p82">
            <a:extLst>
              <a:ext uri="{FF2B5EF4-FFF2-40B4-BE49-F238E27FC236}">
                <a16:creationId xmlns:a16="http://schemas.microsoft.com/office/drawing/2014/main" id="{847F1231-7C18-140D-B071-4AABDB141E42}"/>
              </a:ext>
            </a:extLst>
          </p:cNvPr>
          <p:cNvSpPr/>
          <p:nvPr/>
        </p:nvSpPr>
        <p:spPr>
          <a:xfrm>
            <a:off x="9481060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589;p82">
            <a:extLst>
              <a:ext uri="{FF2B5EF4-FFF2-40B4-BE49-F238E27FC236}">
                <a16:creationId xmlns:a16="http://schemas.microsoft.com/office/drawing/2014/main" id="{2D5AC512-671E-4F85-9F92-31F51C21F5ED}"/>
              </a:ext>
            </a:extLst>
          </p:cNvPr>
          <p:cNvSpPr/>
          <p:nvPr/>
        </p:nvSpPr>
        <p:spPr>
          <a:xfrm>
            <a:off x="10199392" y="1418255"/>
            <a:ext cx="200779" cy="191246"/>
          </a:xfrm>
          <a:prstGeom prst="ellipse">
            <a:avLst/>
          </a:prstGeom>
          <a:solidFill>
            <a:srgbClr val="0070C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24" name="Rectangle 3981">
            <a:extLst>
              <a:ext uri="{FF2B5EF4-FFF2-40B4-BE49-F238E27FC236}">
                <a16:creationId xmlns:a16="http://schemas.microsoft.com/office/drawing/2014/main" id="{D0BCB605-EC6E-B523-30E1-572131DFC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1411613"/>
            <a:ext cx="1389217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900" b="1" dirty="0">
                <a:solidFill>
                  <a:srgbClr val="000000"/>
                </a:solidFill>
                <a:latin typeface="IBM Plex Sans"/>
                <a:ea typeface="MS Gothic" panose="020B0609070205080204" pitchFamily="49" charset="-128"/>
              </a:rPr>
              <a:t>Not applicable</a:t>
            </a:r>
            <a:endParaRPr kumimoji="0" lang="en-US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/>
              <a:ea typeface="MS Gothic" panose="020B0609070205080204" pitchFamily="49" charset="-128"/>
              <a:cs typeface="Arial" panose="020B0604020202020204" pitchFamily="34" charset="0"/>
            </a:endParaRPr>
          </a:p>
        </p:txBody>
      </p:sp>
      <p:sp>
        <p:nvSpPr>
          <p:cNvPr id="25" name="Google Shape;581;p82">
            <a:extLst>
              <a:ext uri="{FF2B5EF4-FFF2-40B4-BE49-F238E27FC236}">
                <a16:creationId xmlns:a16="http://schemas.microsoft.com/office/drawing/2014/main" id="{E57DC761-D1DF-1794-B8CB-E0F69C7AB40B}"/>
              </a:ext>
            </a:extLst>
          </p:cNvPr>
          <p:cNvSpPr txBox="1">
            <a:spLocks/>
          </p:cNvSpPr>
          <p:nvPr/>
        </p:nvSpPr>
        <p:spPr>
          <a:xfrm>
            <a:off x="6021958" y="1707304"/>
            <a:ext cx="5978363" cy="44754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609585" marR="0" lvl="0" indent="-304792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400"/>
              </a:spcBef>
            </a:pP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Recent Accomplishments/Activities:</a:t>
            </a:r>
            <a:endParaRPr lang="en-US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CRs auto-seeded from risk register + execution change requests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No phantom or demo data in the register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Cost and schedule impact columns per row</a:t>
            </a:r>
          </a:p>
          <a:p>
            <a:pPr marL="0" indent="0">
              <a:spcBef>
                <a:spcPts val="400"/>
              </a:spcBef>
            </a:pPr>
            <a:endParaRPr lang="en-US" sz="300" b="1" kern="0" dirty="0">
              <a:latin typeface="IBM Plex Sans Light" panose="020B0403050203000203" pitchFamily="34" charset="0"/>
              <a:ea typeface="IBM Plex Sans"/>
              <a:cs typeface="IBM Plex Sans"/>
              <a:sym typeface="IBM Plex Sans"/>
            </a:endParaRPr>
          </a:p>
          <a:p>
            <a:pPr marL="0" indent="0">
              <a:spcBef>
                <a:spcPts val="400"/>
              </a:spcBef>
            </a:pP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Planned Activities:</a:t>
            </a:r>
            <a:endParaRPr lang="en-US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Approval-role RBAC to govern who can act</a:t>
            </a:r>
          </a:p>
          <a:p>
            <a:pPr marL="0" indent="0">
              <a:spcBef>
                <a:spcPts val="400"/>
              </a:spcBef>
            </a:pPr>
            <a:endParaRPr lang="en-US" sz="300" b="1" kern="0" dirty="0">
              <a:latin typeface="IBM Plex Sans Light" panose="020B0403050203000203" pitchFamily="34" charset="0"/>
              <a:ea typeface="IBM Plex Sans"/>
              <a:cs typeface="IBM Plex Sans"/>
              <a:sym typeface="IBM Plex Sans"/>
            </a:endParaRPr>
          </a:p>
          <a:p>
            <a:pPr marL="0" indent="0">
              <a:spcBef>
                <a:spcPts val="400"/>
              </a:spcBef>
            </a:pP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Issues:</a:t>
            </a:r>
            <a:endParaRPr lang="en-US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None — register behavior verified against Firestore</a:t>
            </a:r>
          </a:p>
        </p:txBody>
      </p:sp>
    </p:spTree>
    <p:extLst>
      <p:ext uri="{BB962C8B-B14F-4D97-AF65-F5344CB8AC3E}">
        <p14:creationId xmlns:p14="http://schemas.microsoft.com/office/powerpoint/2010/main" val="3754677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0;p82">
            <a:extLst>
              <a:ext uri="{FF2B5EF4-FFF2-40B4-BE49-F238E27FC236}">
                <a16:creationId xmlns:a16="http://schemas.microsoft.com/office/drawing/2014/main" id="{FDBD92B9-C418-88CA-3ADD-A9E72BD163E3}"/>
              </a:ext>
            </a:extLst>
          </p:cNvPr>
          <p:cNvSpPr txBox="1">
            <a:spLocks/>
          </p:cNvSpPr>
          <p:nvPr/>
        </p:nvSpPr>
        <p:spPr>
          <a:xfrm>
            <a:off x="226740" y="107540"/>
            <a:ext cx="5869260" cy="44396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336769"/>
                </a:solidFill>
                <a:latin typeface="IBM Plex Sans Light"/>
                <a:ea typeface="Calibri" panose="020F0502020204030204" pitchFamily="34" charset="0"/>
                <a:cs typeface="Calibri"/>
                <a:sym typeface="Avenir"/>
              </a:rPr>
              <a:t>Impact Assessment &amp; Approvals</a:t>
            </a:r>
            <a:endParaRPr lang="en-US" sz="3200" b="1" dirty="0">
              <a:solidFill>
                <a:srgbClr val="336769"/>
              </a:solidFill>
              <a:latin typeface="IBM Plex Sans Light"/>
              <a:ea typeface="Calibri" panose="020F0502020204030204" pitchFamily="34" charset="0"/>
              <a:cs typeface="Calibri"/>
            </a:endParaRPr>
          </a:p>
        </p:txBody>
      </p:sp>
      <p:sp>
        <p:nvSpPr>
          <p:cNvPr id="5" name="Google Shape;581;p82">
            <a:extLst>
              <a:ext uri="{FF2B5EF4-FFF2-40B4-BE49-F238E27FC236}">
                <a16:creationId xmlns:a16="http://schemas.microsoft.com/office/drawing/2014/main" id="{4C4F2DA0-CD22-3A8D-51AD-D905F22B3D96}"/>
              </a:ext>
            </a:extLst>
          </p:cNvPr>
          <p:cNvSpPr txBox="1">
            <a:spLocks/>
          </p:cNvSpPr>
          <p:nvPr/>
        </p:nvSpPr>
        <p:spPr>
          <a:xfrm>
            <a:off x="300488" y="618399"/>
            <a:ext cx="5510616" cy="129524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400"/>
              </a:spcBef>
            </a:pPr>
            <a:r>
              <a:rPr lang="en-US" sz="1200" b="1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Overall Update: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15-dimension impact grid, scored 0–5 each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Composite score weights Scope/Schedule/Cost ×2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Cost + schedule impact totals per CR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Re-baseline triggered by any cost/schedule impact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10 approval roles across the workflow</a:t>
            </a:r>
          </a:p>
        </p:txBody>
      </p:sp>
      <p:graphicFrame>
        <p:nvGraphicFramePr>
          <p:cNvPr id="6" name="Google Shape;584;p82" descr="8 column, 6 row portfolio matrix table example">
            <a:extLst>
              <a:ext uri="{FF2B5EF4-FFF2-40B4-BE49-F238E27FC236}">
                <a16:creationId xmlns:a16="http://schemas.microsoft.com/office/drawing/2014/main" id="{33D88265-8898-BBF2-6305-FD1FC0DD97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2046649"/>
              </p:ext>
            </p:extLst>
          </p:nvPr>
        </p:nvGraphicFramePr>
        <p:xfrm>
          <a:off x="10199392" y="67325"/>
          <a:ext cx="1885813" cy="3213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85813">
                  <a:extLst>
                    <a:ext uri="{9D8B030D-6E8A-4147-A177-3AD203B41FA5}">
                      <a16:colId xmlns:a16="http://schemas.microsoft.com/office/drawing/2014/main" val="1435310701"/>
                    </a:ext>
                  </a:extLst>
                </a:gridCol>
              </a:tblGrid>
              <a:tr h="3213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June 2026</a:t>
                      </a:r>
                      <a:endParaRPr sz="1100" b="1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581;p82">
            <a:extLst>
              <a:ext uri="{FF2B5EF4-FFF2-40B4-BE49-F238E27FC236}">
                <a16:creationId xmlns:a16="http://schemas.microsoft.com/office/drawing/2014/main" id="{D8636BBD-6080-D35D-5401-74A81007CC8D}"/>
              </a:ext>
            </a:extLst>
          </p:cNvPr>
          <p:cNvSpPr txBox="1">
            <a:spLocks/>
          </p:cNvSpPr>
          <p:nvPr/>
        </p:nvSpPr>
        <p:spPr>
          <a:xfrm>
            <a:off x="262678" y="1980536"/>
            <a:ext cx="5510616" cy="447549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609585" marR="0" lvl="0" indent="-304792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400"/>
              </a:spcBef>
            </a:pPr>
            <a:r>
              <a:rPr lang="en-US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Delivery Activities: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Workflow builder: add steps, assign roles, set due dates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Decisions: approve, reject, request info, return, delegate, escalate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Contingency ($500K) and reserve ($1M) drawdown on approval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Average approval cycle time tracked per quarter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Emergency CRs auto-fast-track to PM + Sponsor</a:t>
            </a:r>
          </a:p>
        </p:txBody>
      </p:sp>
      <p:graphicFrame>
        <p:nvGraphicFramePr>
          <p:cNvPr id="8" name="Google Shape;584;p82" descr="8 column, 6 row portfolio matrix table example">
            <a:extLst>
              <a:ext uri="{FF2B5EF4-FFF2-40B4-BE49-F238E27FC236}">
                <a16:creationId xmlns:a16="http://schemas.microsoft.com/office/drawing/2014/main" id="{997F5E29-8682-E67C-75FE-C755BF9CC9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6560601"/>
              </p:ext>
            </p:extLst>
          </p:nvPr>
        </p:nvGraphicFramePr>
        <p:xfrm>
          <a:off x="6021959" y="517956"/>
          <a:ext cx="3980308" cy="11115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5053">
                  <a:extLst>
                    <a:ext uri="{9D8B030D-6E8A-4147-A177-3AD203B41FA5}">
                      <a16:colId xmlns:a16="http://schemas.microsoft.com/office/drawing/2014/main" val="1435310701"/>
                    </a:ext>
                  </a:extLst>
                </a:gridCol>
                <a:gridCol w="907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7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062">
                  <a:extLst>
                    <a:ext uri="{9D8B030D-6E8A-4147-A177-3AD203B41FA5}">
                      <a16:colId xmlns:a16="http://schemas.microsoft.com/office/drawing/2014/main" val="234619276"/>
                    </a:ext>
                  </a:extLst>
                </a:gridCol>
              </a:tblGrid>
              <a:tr h="4097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Status</a:t>
                      </a:r>
                      <a:endParaRPr sz="1100" b="1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05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Overall</a:t>
                      </a:r>
                      <a:endParaRPr sz="105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Design</a:t>
                      </a:r>
                      <a:endParaRPr sz="110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8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Development</a:t>
                      </a:r>
                      <a:endParaRPr sz="80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Release</a:t>
                      </a:r>
                      <a:endParaRPr sz="110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" sz="900" i="0" u="none" strike="noStrike" cap="none" dirty="0">
                          <a:solidFill>
                            <a:schemeClr val="tx1"/>
                          </a:solidFill>
                          <a:latin typeface="IBM Plex Sans Light" panose="020B0403050203000203" pitchFamily="34" charset="0"/>
                          <a:ea typeface="IBM Plex Sans Light"/>
                          <a:cs typeface="IBM Plex Sans Light"/>
                          <a:sym typeface="IBM Plex Sans Light"/>
                        </a:rPr>
                        <a:t>Now</a:t>
                      </a:r>
                      <a:endParaRPr sz="900" i="0" u="none" strike="noStrike" cap="none" dirty="0">
                        <a:solidFill>
                          <a:schemeClr val="tx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  <a:tabLst/>
                        <a:defRPr/>
                      </a:pPr>
                      <a:endParaRPr lang="en-US"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4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i="1" u="none" strike="noStrike" cap="none" dirty="0">
                          <a:solidFill>
                            <a:schemeClr val="bg1"/>
                          </a:solidFill>
                          <a:latin typeface="IBM Plex Sans Light" panose="020B0403050203000203" pitchFamily="34" charset="0"/>
                          <a:ea typeface="IBM Plex Sans Light"/>
                          <a:cs typeface="IBM Plex Sans Light"/>
                          <a:sym typeface="IBM Plex Sans Light"/>
                        </a:rPr>
                        <a:t>Trending</a:t>
                      </a:r>
                      <a:endParaRPr sz="900" i="1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Google Shape;589;p82">
            <a:extLst>
              <a:ext uri="{FF2B5EF4-FFF2-40B4-BE49-F238E27FC236}">
                <a16:creationId xmlns:a16="http://schemas.microsoft.com/office/drawing/2014/main" id="{C7763215-B682-129E-7F50-CEBCEA8D2C20}"/>
              </a:ext>
            </a:extLst>
          </p:cNvPr>
          <p:cNvSpPr/>
          <p:nvPr/>
        </p:nvSpPr>
        <p:spPr>
          <a:xfrm>
            <a:off x="8641341" y="135847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00"/>
              </a:highlight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Google Shape;589;p82">
            <a:extLst>
              <a:ext uri="{FF2B5EF4-FFF2-40B4-BE49-F238E27FC236}">
                <a16:creationId xmlns:a16="http://schemas.microsoft.com/office/drawing/2014/main" id="{94432682-A43D-7E11-B321-9DE68D52B482}"/>
              </a:ext>
            </a:extLst>
          </p:cNvPr>
          <p:cNvSpPr/>
          <p:nvPr/>
        </p:nvSpPr>
        <p:spPr>
          <a:xfrm>
            <a:off x="8647598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589;p82">
            <a:extLst>
              <a:ext uri="{FF2B5EF4-FFF2-40B4-BE49-F238E27FC236}">
                <a16:creationId xmlns:a16="http://schemas.microsoft.com/office/drawing/2014/main" id="{75B5349F-7086-3D30-E092-8312FDEAD8ED}"/>
              </a:ext>
            </a:extLst>
          </p:cNvPr>
          <p:cNvSpPr/>
          <p:nvPr/>
        </p:nvSpPr>
        <p:spPr>
          <a:xfrm>
            <a:off x="7016779" y="135847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Google Shape;589;p82">
            <a:extLst>
              <a:ext uri="{FF2B5EF4-FFF2-40B4-BE49-F238E27FC236}">
                <a16:creationId xmlns:a16="http://schemas.microsoft.com/office/drawing/2014/main" id="{9CBCC08F-B807-5D18-017D-C071EE6C01F2}"/>
              </a:ext>
            </a:extLst>
          </p:cNvPr>
          <p:cNvSpPr/>
          <p:nvPr/>
        </p:nvSpPr>
        <p:spPr>
          <a:xfrm>
            <a:off x="7856498" y="1350791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Google Shape;589;p82">
            <a:extLst>
              <a:ext uri="{FF2B5EF4-FFF2-40B4-BE49-F238E27FC236}">
                <a16:creationId xmlns:a16="http://schemas.microsoft.com/office/drawing/2014/main" id="{88E890C6-8725-5E52-D7E9-8776FA4D467F}"/>
              </a:ext>
            </a:extLst>
          </p:cNvPr>
          <p:cNvSpPr/>
          <p:nvPr/>
        </p:nvSpPr>
        <p:spPr>
          <a:xfrm>
            <a:off x="7856498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589;p82">
            <a:extLst>
              <a:ext uri="{FF2B5EF4-FFF2-40B4-BE49-F238E27FC236}">
                <a16:creationId xmlns:a16="http://schemas.microsoft.com/office/drawing/2014/main" id="{610B602B-CEFE-F8BC-8227-69AFE324CF19}"/>
              </a:ext>
            </a:extLst>
          </p:cNvPr>
          <p:cNvSpPr/>
          <p:nvPr/>
        </p:nvSpPr>
        <p:spPr>
          <a:xfrm>
            <a:off x="7016779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589;p82">
            <a:extLst>
              <a:ext uri="{FF2B5EF4-FFF2-40B4-BE49-F238E27FC236}">
                <a16:creationId xmlns:a16="http://schemas.microsoft.com/office/drawing/2014/main" id="{31A23C30-DD83-8053-6C31-345DB7F50F30}"/>
              </a:ext>
            </a:extLst>
          </p:cNvPr>
          <p:cNvSpPr/>
          <p:nvPr/>
        </p:nvSpPr>
        <p:spPr>
          <a:xfrm>
            <a:off x="10199392" y="538620"/>
            <a:ext cx="200779" cy="191246"/>
          </a:xfrm>
          <a:prstGeom prst="ellipse">
            <a:avLst/>
          </a:prstGeom>
          <a:solidFill>
            <a:srgbClr val="00B05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6" name="Google Shape;589;p82">
            <a:extLst>
              <a:ext uri="{FF2B5EF4-FFF2-40B4-BE49-F238E27FC236}">
                <a16:creationId xmlns:a16="http://schemas.microsoft.com/office/drawing/2014/main" id="{CAEE9CA6-D334-D4B6-7781-4DD31AF04639}"/>
              </a:ext>
            </a:extLst>
          </p:cNvPr>
          <p:cNvSpPr/>
          <p:nvPr/>
        </p:nvSpPr>
        <p:spPr>
          <a:xfrm>
            <a:off x="10199394" y="829474"/>
            <a:ext cx="200779" cy="191246"/>
          </a:xfrm>
          <a:prstGeom prst="ellipse">
            <a:avLst/>
          </a:prstGeom>
          <a:solidFill>
            <a:srgbClr val="FFFF0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7" name="Google Shape;589;p82">
            <a:extLst>
              <a:ext uri="{FF2B5EF4-FFF2-40B4-BE49-F238E27FC236}">
                <a16:creationId xmlns:a16="http://schemas.microsoft.com/office/drawing/2014/main" id="{CB1702CD-156C-8F98-81CB-327461327623}"/>
              </a:ext>
            </a:extLst>
          </p:cNvPr>
          <p:cNvSpPr/>
          <p:nvPr/>
        </p:nvSpPr>
        <p:spPr>
          <a:xfrm>
            <a:off x="10199392" y="1132504"/>
            <a:ext cx="200779" cy="191246"/>
          </a:xfrm>
          <a:prstGeom prst="ellipse">
            <a:avLst/>
          </a:prstGeom>
          <a:solidFill>
            <a:srgbClr val="FF000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8" name="Rectangle 3981">
            <a:extLst>
              <a:ext uri="{FF2B5EF4-FFF2-40B4-BE49-F238E27FC236}">
                <a16:creationId xmlns:a16="http://schemas.microsoft.com/office/drawing/2014/main" id="{228FB27F-5BE5-0408-74CB-C5D086ABB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508011"/>
            <a:ext cx="1389217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900" b="1" dirty="0">
                <a:solidFill>
                  <a:srgbClr val="000000"/>
                </a:solidFill>
                <a:latin typeface="IBM Plex Sans"/>
                <a:ea typeface="MS Gothic" panose="020B0609070205080204" pitchFamily="49" charset="-128"/>
              </a:rPr>
              <a:t>On target OR Done</a:t>
            </a:r>
            <a:endParaRPr kumimoji="0" lang="en-US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/>
              <a:ea typeface="MS Gothic" panose="020B0609070205080204" pitchFamily="49" charset="-128"/>
              <a:cs typeface="Arial" panose="020B0604020202020204" pitchFamily="34" charset="0"/>
            </a:endParaRPr>
          </a:p>
        </p:txBody>
      </p:sp>
      <p:sp>
        <p:nvSpPr>
          <p:cNvPr id="19" name="Rectangle 3981">
            <a:extLst>
              <a:ext uri="{FF2B5EF4-FFF2-40B4-BE49-F238E27FC236}">
                <a16:creationId xmlns:a16="http://schemas.microsoft.com/office/drawing/2014/main" id="{B6D7B758-8AF1-7BDC-94F4-07924A82E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814528"/>
            <a:ext cx="1285920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MS Gothic" panose="020B0609070205080204" pitchFamily="49" charset="-128"/>
                <a:cs typeface="Arial" panose="020B0604020202020204" pitchFamily="34" charset="0"/>
              </a:rPr>
              <a:t>Possible Issues</a:t>
            </a:r>
          </a:p>
        </p:txBody>
      </p:sp>
      <p:sp>
        <p:nvSpPr>
          <p:cNvPr id="20" name="Rectangle 3981">
            <a:extLst>
              <a:ext uri="{FF2B5EF4-FFF2-40B4-BE49-F238E27FC236}">
                <a16:creationId xmlns:a16="http://schemas.microsoft.com/office/drawing/2014/main" id="{36F0CAC1-0A3F-C507-9643-BC6C3A463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1098493"/>
            <a:ext cx="1844318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MS Gothic" panose="020B0609070205080204" pitchFamily="49" charset="-128"/>
                <a:cs typeface="Arial" panose="020B0604020202020204" pitchFamily="34" charset="0"/>
              </a:rPr>
              <a:t>Major Issues OR Not Started</a:t>
            </a:r>
          </a:p>
        </p:txBody>
      </p:sp>
      <p:sp>
        <p:nvSpPr>
          <p:cNvPr id="21" name="Google Shape;589;p82">
            <a:extLst>
              <a:ext uri="{FF2B5EF4-FFF2-40B4-BE49-F238E27FC236}">
                <a16:creationId xmlns:a16="http://schemas.microsoft.com/office/drawing/2014/main" id="{3348C4DF-9ADC-E252-B5BC-7BF089213698}"/>
              </a:ext>
            </a:extLst>
          </p:cNvPr>
          <p:cNvSpPr/>
          <p:nvPr/>
        </p:nvSpPr>
        <p:spPr>
          <a:xfrm>
            <a:off x="9481060" y="1340157"/>
            <a:ext cx="243840" cy="243840"/>
          </a:xfrm>
          <a:prstGeom prst="ellipse">
            <a:avLst/>
          </a:prstGeom>
          <a:solidFill>
            <a:srgbClr val="FFFF0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589;p82">
            <a:extLst>
              <a:ext uri="{FF2B5EF4-FFF2-40B4-BE49-F238E27FC236}">
                <a16:creationId xmlns:a16="http://schemas.microsoft.com/office/drawing/2014/main" id="{847F1231-7C18-140D-B071-4AABDB141E42}"/>
              </a:ext>
            </a:extLst>
          </p:cNvPr>
          <p:cNvSpPr/>
          <p:nvPr/>
        </p:nvSpPr>
        <p:spPr>
          <a:xfrm>
            <a:off x="9481060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589;p82">
            <a:extLst>
              <a:ext uri="{FF2B5EF4-FFF2-40B4-BE49-F238E27FC236}">
                <a16:creationId xmlns:a16="http://schemas.microsoft.com/office/drawing/2014/main" id="{2D5AC512-671E-4F85-9F92-31F51C21F5ED}"/>
              </a:ext>
            </a:extLst>
          </p:cNvPr>
          <p:cNvSpPr/>
          <p:nvPr/>
        </p:nvSpPr>
        <p:spPr>
          <a:xfrm>
            <a:off x="10199392" y="1418255"/>
            <a:ext cx="200779" cy="191246"/>
          </a:xfrm>
          <a:prstGeom prst="ellipse">
            <a:avLst/>
          </a:prstGeom>
          <a:solidFill>
            <a:srgbClr val="0070C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24" name="Rectangle 3981">
            <a:extLst>
              <a:ext uri="{FF2B5EF4-FFF2-40B4-BE49-F238E27FC236}">
                <a16:creationId xmlns:a16="http://schemas.microsoft.com/office/drawing/2014/main" id="{D0BCB605-EC6E-B523-30E1-572131DFC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1411613"/>
            <a:ext cx="1389217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900" b="1" dirty="0">
                <a:solidFill>
                  <a:srgbClr val="000000"/>
                </a:solidFill>
                <a:latin typeface="IBM Plex Sans"/>
                <a:ea typeface="MS Gothic" panose="020B0609070205080204" pitchFamily="49" charset="-128"/>
              </a:rPr>
              <a:t>Not applicable</a:t>
            </a:r>
            <a:endParaRPr kumimoji="0" lang="en-US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/>
              <a:ea typeface="MS Gothic" panose="020B0609070205080204" pitchFamily="49" charset="-128"/>
              <a:cs typeface="Arial" panose="020B0604020202020204" pitchFamily="34" charset="0"/>
            </a:endParaRPr>
          </a:p>
        </p:txBody>
      </p:sp>
      <p:sp>
        <p:nvSpPr>
          <p:cNvPr id="25" name="Google Shape;581;p82">
            <a:extLst>
              <a:ext uri="{FF2B5EF4-FFF2-40B4-BE49-F238E27FC236}">
                <a16:creationId xmlns:a16="http://schemas.microsoft.com/office/drawing/2014/main" id="{E57DC761-D1DF-1794-B8CB-E0F69C7AB40B}"/>
              </a:ext>
            </a:extLst>
          </p:cNvPr>
          <p:cNvSpPr txBox="1">
            <a:spLocks/>
          </p:cNvSpPr>
          <p:nvPr/>
        </p:nvSpPr>
        <p:spPr>
          <a:xfrm>
            <a:off x="6021958" y="1707304"/>
            <a:ext cx="5978363" cy="44754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609585" marR="0" lvl="0" indent="-304792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400"/>
              </a:spcBef>
            </a:pP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Recent Accomplishments/Activities:</a:t>
            </a:r>
            <a:endParaRPr lang="en-US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Impact Detail tab with live score recompute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Horizontal bar chart of dimension impact</a:t>
            </a:r>
          </a:p>
          <a:p>
            <a:pPr marL="0" indent="0">
              <a:spcBef>
                <a:spcPts val="400"/>
              </a:spcBef>
            </a:pPr>
            <a:endParaRPr lang="en-US" sz="300" b="1" kern="0" dirty="0">
              <a:latin typeface="IBM Plex Sans Light" panose="020B0403050203000203" pitchFamily="34" charset="0"/>
              <a:ea typeface="IBM Plex Sans"/>
              <a:cs typeface="IBM Plex Sans"/>
              <a:sym typeface="IBM Plex Sans"/>
            </a:endParaRPr>
          </a:p>
          <a:p>
            <a:pPr marL="0" indent="0">
              <a:spcBef>
                <a:spcPts val="400"/>
              </a:spcBef>
            </a:pP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Planned Activities:</a:t>
            </a:r>
            <a:endParaRPr lang="en-US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Role-based approval gates once RBAC lands</a:t>
            </a:r>
          </a:p>
          <a:p>
            <a:pPr marL="0" indent="0">
              <a:spcBef>
                <a:spcPts val="400"/>
              </a:spcBef>
            </a:pPr>
            <a:endParaRPr lang="en-US" sz="300" b="1" kern="0" dirty="0">
              <a:latin typeface="IBM Plex Sans Light" panose="020B0403050203000203" pitchFamily="34" charset="0"/>
              <a:ea typeface="IBM Plex Sans"/>
              <a:cs typeface="IBM Plex Sans"/>
              <a:sym typeface="IBM Plex Sans"/>
            </a:endParaRPr>
          </a:p>
          <a:p>
            <a:pPr marL="0" indent="0">
              <a:spcBef>
                <a:spcPts val="400"/>
              </a:spcBef>
            </a:pP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Issues:</a:t>
            </a:r>
            <a:endParaRPr lang="en-US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3754677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0;p82">
            <a:extLst>
              <a:ext uri="{FF2B5EF4-FFF2-40B4-BE49-F238E27FC236}">
                <a16:creationId xmlns:a16="http://schemas.microsoft.com/office/drawing/2014/main" id="{FDBD92B9-C418-88CA-3ADD-A9E72BD163E3}"/>
              </a:ext>
            </a:extLst>
          </p:cNvPr>
          <p:cNvSpPr txBox="1">
            <a:spLocks/>
          </p:cNvSpPr>
          <p:nvPr/>
        </p:nvSpPr>
        <p:spPr>
          <a:xfrm>
            <a:off x="226740" y="107540"/>
            <a:ext cx="5869260" cy="44396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336769"/>
                </a:solidFill>
                <a:latin typeface="IBM Plex Sans Light"/>
                <a:ea typeface="Calibri" panose="020F0502020204030204" pitchFamily="34" charset="0"/>
                <a:cs typeface="Calibri"/>
                <a:sym typeface="Avenir"/>
              </a:rPr>
              <a:t>Baseline, Data &amp; Security</a:t>
            </a:r>
            <a:endParaRPr lang="en-US" sz="3200" b="1" dirty="0">
              <a:solidFill>
                <a:srgbClr val="336769"/>
              </a:solidFill>
              <a:latin typeface="IBM Plex Sans Light"/>
              <a:ea typeface="Calibri" panose="020F0502020204030204" pitchFamily="34" charset="0"/>
              <a:cs typeface="Calibri"/>
            </a:endParaRPr>
          </a:p>
        </p:txBody>
      </p:sp>
      <p:sp>
        <p:nvSpPr>
          <p:cNvPr id="5" name="Google Shape;581;p82">
            <a:extLst>
              <a:ext uri="{FF2B5EF4-FFF2-40B4-BE49-F238E27FC236}">
                <a16:creationId xmlns:a16="http://schemas.microsoft.com/office/drawing/2014/main" id="{4C4F2DA0-CD22-3A8D-51AD-D905F22B3D96}"/>
              </a:ext>
            </a:extLst>
          </p:cNvPr>
          <p:cNvSpPr txBox="1">
            <a:spLocks/>
          </p:cNvSpPr>
          <p:nvPr/>
        </p:nvSpPr>
        <p:spPr>
          <a:xfrm>
            <a:off x="300488" y="618399"/>
            <a:ext cx="5510616" cy="129524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400"/>
              </a:spcBef>
            </a:pPr>
            <a:r>
              <a:rPr lang="en-US" sz="1200" b="1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Overall Update: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Apply-to-baseline creates a revision record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BAC, scope hash, finish date updated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Rollback restores the previous baseline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Audit trail: every action logged with actor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CSV export of the full audit trail</a:t>
            </a:r>
          </a:p>
        </p:txBody>
      </p:sp>
      <p:graphicFrame>
        <p:nvGraphicFramePr>
          <p:cNvPr id="6" name="Google Shape;584;p82" descr="8 column, 6 row portfolio matrix table example">
            <a:extLst>
              <a:ext uri="{FF2B5EF4-FFF2-40B4-BE49-F238E27FC236}">
                <a16:creationId xmlns:a16="http://schemas.microsoft.com/office/drawing/2014/main" id="{33D88265-8898-BBF2-6305-FD1FC0DD97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2046649"/>
              </p:ext>
            </p:extLst>
          </p:nvPr>
        </p:nvGraphicFramePr>
        <p:xfrm>
          <a:off x="10199392" y="67325"/>
          <a:ext cx="1885813" cy="3213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85813">
                  <a:extLst>
                    <a:ext uri="{9D8B030D-6E8A-4147-A177-3AD203B41FA5}">
                      <a16:colId xmlns:a16="http://schemas.microsoft.com/office/drawing/2014/main" val="1435310701"/>
                    </a:ext>
                  </a:extLst>
                </a:gridCol>
              </a:tblGrid>
              <a:tr h="3213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June 2026</a:t>
                      </a:r>
                      <a:endParaRPr sz="1100" b="1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581;p82">
            <a:extLst>
              <a:ext uri="{FF2B5EF4-FFF2-40B4-BE49-F238E27FC236}">
                <a16:creationId xmlns:a16="http://schemas.microsoft.com/office/drawing/2014/main" id="{D8636BBD-6080-D35D-5401-74A81007CC8D}"/>
              </a:ext>
            </a:extLst>
          </p:cNvPr>
          <p:cNvSpPr txBox="1">
            <a:spLocks/>
          </p:cNvSpPr>
          <p:nvPr/>
        </p:nvSpPr>
        <p:spPr>
          <a:xfrm>
            <a:off x="262678" y="1980536"/>
            <a:ext cx="5510616" cy="447549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609585" marR="0" lvl="0" indent="-304792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400"/>
              </a:spcBef>
            </a:pPr>
            <a:r>
              <a:rPr lang="en-US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Delivery Activities: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Firestore: users/{uid}/changeManagement/* collections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Real-time listeners on CRs, audit, baseline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Rules: owner-scoped reads/writes + project-level scope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Writes are fire-and-forget with error logging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State recomputed from persisted data on reload</a:t>
            </a:r>
          </a:p>
        </p:txBody>
      </p:sp>
      <p:graphicFrame>
        <p:nvGraphicFramePr>
          <p:cNvPr id="8" name="Google Shape;584;p82" descr="8 column, 6 row portfolio matrix table example">
            <a:extLst>
              <a:ext uri="{FF2B5EF4-FFF2-40B4-BE49-F238E27FC236}">
                <a16:creationId xmlns:a16="http://schemas.microsoft.com/office/drawing/2014/main" id="{997F5E29-8682-E67C-75FE-C755BF9CC9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6560601"/>
              </p:ext>
            </p:extLst>
          </p:nvPr>
        </p:nvGraphicFramePr>
        <p:xfrm>
          <a:off x="6021959" y="517956"/>
          <a:ext cx="3980308" cy="11115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5053">
                  <a:extLst>
                    <a:ext uri="{9D8B030D-6E8A-4147-A177-3AD203B41FA5}">
                      <a16:colId xmlns:a16="http://schemas.microsoft.com/office/drawing/2014/main" val="1435310701"/>
                    </a:ext>
                  </a:extLst>
                </a:gridCol>
                <a:gridCol w="907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7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062">
                  <a:extLst>
                    <a:ext uri="{9D8B030D-6E8A-4147-A177-3AD203B41FA5}">
                      <a16:colId xmlns:a16="http://schemas.microsoft.com/office/drawing/2014/main" val="234619276"/>
                    </a:ext>
                  </a:extLst>
                </a:gridCol>
              </a:tblGrid>
              <a:tr h="4097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Status</a:t>
                      </a:r>
                      <a:endParaRPr sz="1100" b="1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05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Overall</a:t>
                      </a:r>
                      <a:endParaRPr sz="105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Design</a:t>
                      </a:r>
                      <a:endParaRPr sz="110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8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Development</a:t>
                      </a:r>
                      <a:endParaRPr sz="80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Release</a:t>
                      </a:r>
                      <a:endParaRPr sz="110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" sz="900" i="0" u="none" strike="noStrike" cap="none" dirty="0">
                          <a:solidFill>
                            <a:schemeClr val="tx1"/>
                          </a:solidFill>
                          <a:latin typeface="IBM Plex Sans Light" panose="020B0403050203000203" pitchFamily="34" charset="0"/>
                          <a:ea typeface="IBM Plex Sans Light"/>
                          <a:cs typeface="IBM Plex Sans Light"/>
                          <a:sym typeface="IBM Plex Sans Light"/>
                        </a:rPr>
                        <a:t>Now</a:t>
                      </a:r>
                      <a:endParaRPr sz="900" i="0" u="none" strike="noStrike" cap="none" dirty="0">
                        <a:solidFill>
                          <a:schemeClr val="tx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  <a:tabLst/>
                        <a:defRPr/>
                      </a:pPr>
                      <a:endParaRPr lang="en-US"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4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i="1" u="none" strike="noStrike" cap="none" dirty="0">
                          <a:solidFill>
                            <a:schemeClr val="bg1"/>
                          </a:solidFill>
                          <a:latin typeface="IBM Plex Sans Light" panose="020B0403050203000203" pitchFamily="34" charset="0"/>
                          <a:ea typeface="IBM Plex Sans Light"/>
                          <a:cs typeface="IBM Plex Sans Light"/>
                          <a:sym typeface="IBM Plex Sans Light"/>
                        </a:rPr>
                        <a:t>Trending</a:t>
                      </a:r>
                      <a:endParaRPr sz="900" i="1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Google Shape;589;p82">
            <a:extLst>
              <a:ext uri="{FF2B5EF4-FFF2-40B4-BE49-F238E27FC236}">
                <a16:creationId xmlns:a16="http://schemas.microsoft.com/office/drawing/2014/main" id="{C7763215-B682-129E-7F50-CEBCEA8D2C20}"/>
              </a:ext>
            </a:extLst>
          </p:cNvPr>
          <p:cNvSpPr/>
          <p:nvPr/>
        </p:nvSpPr>
        <p:spPr>
          <a:xfrm>
            <a:off x="8641341" y="135847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00"/>
              </a:highlight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Google Shape;589;p82">
            <a:extLst>
              <a:ext uri="{FF2B5EF4-FFF2-40B4-BE49-F238E27FC236}">
                <a16:creationId xmlns:a16="http://schemas.microsoft.com/office/drawing/2014/main" id="{94432682-A43D-7E11-B321-9DE68D52B482}"/>
              </a:ext>
            </a:extLst>
          </p:cNvPr>
          <p:cNvSpPr/>
          <p:nvPr/>
        </p:nvSpPr>
        <p:spPr>
          <a:xfrm>
            <a:off x="8647598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589;p82">
            <a:extLst>
              <a:ext uri="{FF2B5EF4-FFF2-40B4-BE49-F238E27FC236}">
                <a16:creationId xmlns:a16="http://schemas.microsoft.com/office/drawing/2014/main" id="{75B5349F-7086-3D30-E092-8312FDEAD8ED}"/>
              </a:ext>
            </a:extLst>
          </p:cNvPr>
          <p:cNvSpPr/>
          <p:nvPr/>
        </p:nvSpPr>
        <p:spPr>
          <a:xfrm>
            <a:off x="7016779" y="135847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Google Shape;589;p82">
            <a:extLst>
              <a:ext uri="{FF2B5EF4-FFF2-40B4-BE49-F238E27FC236}">
                <a16:creationId xmlns:a16="http://schemas.microsoft.com/office/drawing/2014/main" id="{9CBCC08F-B807-5D18-017D-C071EE6C01F2}"/>
              </a:ext>
            </a:extLst>
          </p:cNvPr>
          <p:cNvSpPr/>
          <p:nvPr/>
        </p:nvSpPr>
        <p:spPr>
          <a:xfrm>
            <a:off x="7856498" y="1350791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Google Shape;589;p82">
            <a:extLst>
              <a:ext uri="{FF2B5EF4-FFF2-40B4-BE49-F238E27FC236}">
                <a16:creationId xmlns:a16="http://schemas.microsoft.com/office/drawing/2014/main" id="{88E890C6-8725-5E52-D7E9-8776FA4D467F}"/>
              </a:ext>
            </a:extLst>
          </p:cNvPr>
          <p:cNvSpPr/>
          <p:nvPr/>
        </p:nvSpPr>
        <p:spPr>
          <a:xfrm>
            <a:off x="7856498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589;p82">
            <a:extLst>
              <a:ext uri="{FF2B5EF4-FFF2-40B4-BE49-F238E27FC236}">
                <a16:creationId xmlns:a16="http://schemas.microsoft.com/office/drawing/2014/main" id="{610B602B-CEFE-F8BC-8227-69AFE324CF19}"/>
              </a:ext>
            </a:extLst>
          </p:cNvPr>
          <p:cNvSpPr/>
          <p:nvPr/>
        </p:nvSpPr>
        <p:spPr>
          <a:xfrm>
            <a:off x="7016779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589;p82">
            <a:extLst>
              <a:ext uri="{FF2B5EF4-FFF2-40B4-BE49-F238E27FC236}">
                <a16:creationId xmlns:a16="http://schemas.microsoft.com/office/drawing/2014/main" id="{31A23C30-DD83-8053-6C31-345DB7F50F30}"/>
              </a:ext>
            </a:extLst>
          </p:cNvPr>
          <p:cNvSpPr/>
          <p:nvPr/>
        </p:nvSpPr>
        <p:spPr>
          <a:xfrm>
            <a:off x="10199392" y="538620"/>
            <a:ext cx="200779" cy="191246"/>
          </a:xfrm>
          <a:prstGeom prst="ellipse">
            <a:avLst/>
          </a:prstGeom>
          <a:solidFill>
            <a:srgbClr val="00B05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6" name="Google Shape;589;p82">
            <a:extLst>
              <a:ext uri="{FF2B5EF4-FFF2-40B4-BE49-F238E27FC236}">
                <a16:creationId xmlns:a16="http://schemas.microsoft.com/office/drawing/2014/main" id="{CAEE9CA6-D334-D4B6-7781-4DD31AF04639}"/>
              </a:ext>
            </a:extLst>
          </p:cNvPr>
          <p:cNvSpPr/>
          <p:nvPr/>
        </p:nvSpPr>
        <p:spPr>
          <a:xfrm>
            <a:off x="10199394" y="829474"/>
            <a:ext cx="200779" cy="191246"/>
          </a:xfrm>
          <a:prstGeom prst="ellipse">
            <a:avLst/>
          </a:prstGeom>
          <a:solidFill>
            <a:srgbClr val="FFFF0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7" name="Google Shape;589;p82">
            <a:extLst>
              <a:ext uri="{FF2B5EF4-FFF2-40B4-BE49-F238E27FC236}">
                <a16:creationId xmlns:a16="http://schemas.microsoft.com/office/drawing/2014/main" id="{CB1702CD-156C-8F98-81CB-327461327623}"/>
              </a:ext>
            </a:extLst>
          </p:cNvPr>
          <p:cNvSpPr/>
          <p:nvPr/>
        </p:nvSpPr>
        <p:spPr>
          <a:xfrm>
            <a:off x="10199392" y="1132504"/>
            <a:ext cx="200779" cy="191246"/>
          </a:xfrm>
          <a:prstGeom prst="ellipse">
            <a:avLst/>
          </a:prstGeom>
          <a:solidFill>
            <a:srgbClr val="FF000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8" name="Rectangle 3981">
            <a:extLst>
              <a:ext uri="{FF2B5EF4-FFF2-40B4-BE49-F238E27FC236}">
                <a16:creationId xmlns:a16="http://schemas.microsoft.com/office/drawing/2014/main" id="{228FB27F-5BE5-0408-74CB-C5D086ABB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508011"/>
            <a:ext cx="1389217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900" b="1" dirty="0">
                <a:solidFill>
                  <a:srgbClr val="000000"/>
                </a:solidFill>
                <a:latin typeface="IBM Plex Sans"/>
                <a:ea typeface="MS Gothic" panose="020B0609070205080204" pitchFamily="49" charset="-128"/>
              </a:rPr>
              <a:t>On target OR Done</a:t>
            </a:r>
            <a:endParaRPr kumimoji="0" lang="en-US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/>
              <a:ea typeface="MS Gothic" panose="020B0609070205080204" pitchFamily="49" charset="-128"/>
              <a:cs typeface="Arial" panose="020B0604020202020204" pitchFamily="34" charset="0"/>
            </a:endParaRPr>
          </a:p>
        </p:txBody>
      </p:sp>
      <p:sp>
        <p:nvSpPr>
          <p:cNvPr id="19" name="Rectangle 3981">
            <a:extLst>
              <a:ext uri="{FF2B5EF4-FFF2-40B4-BE49-F238E27FC236}">
                <a16:creationId xmlns:a16="http://schemas.microsoft.com/office/drawing/2014/main" id="{B6D7B758-8AF1-7BDC-94F4-07924A82E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814528"/>
            <a:ext cx="1285920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MS Gothic" panose="020B0609070205080204" pitchFamily="49" charset="-128"/>
                <a:cs typeface="Arial" panose="020B0604020202020204" pitchFamily="34" charset="0"/>
              </a:rPr>
              <a:t>Possible Issues</a:t>
            </a:r>
          </a:p>
        </p:txBody>
      </p:sp>
      <p:sp>
        <p:nvSpPr>
          <p:cNvPr id="20" name="Rectangle 3981">
            <a:extLst>
              <a:ext uri="{FF2B5EF4-FFF2-40B4-BE49-F238E27FC236}">
                <a16:creationId xmlns:a16="http://schemas.microsoft.com/office/drawing/2014/main" id="{36F0CAC1-0A3F-C507-9643-BC6C3A463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1098493"/>
            <a:ext cx="1844318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MS Gothic" panose="020B0609070205080204" pitchFamily="49" charset="-128"/>
                <a:cs typeface="Arial" panose="020B0604020202020204" pitchFamily="34" charset="0"/>
              </a:rPr>
              <a:t>Major Issues OR Not Started</a:t>
            </a:r>
          </a:p>
        </p:txBody>
      </p:sp>
      <p:sp>
        <p:nvSpPr>
          <p:cNvPr id="21" name="Google Shape;589;p82">
            <a:extLst>
              <a:ext uri="{FF2B5EF4-FFF2-40B4-BE49-F238E27FC236}">
                <a16:creationId xmlns:a16="http://schemas.microsoft.com/office/drawing/2014/main" id="{3348C4DF-9ADC-E252-B5BC-7BF089213698}"/>
              </a:ext>
            </a:extLst>
          </p:cNvPr>
          <p:cNvSpPr/>
          <p:nvPr/>
        </p:nvSpPr>
        <p:spPr>
          <a:xfrm>
            <a:off x="9481060" y="1340157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589;p82">
            <a:extLst>
              <a:ext uri="{FF2B5EF4-FFF2-40B4-BE49-F238E27FC236}">
                <a16:creationId xmlns:a16="http://schemas.microsoft.com/office/drawing/2014/main" id="{847F1231-7C18-140D-B071-4AABDB141E42}"/>
              </a:ext>
            </a:extLst>
          </p:cNvPr>
          <p:cNvSpPr/>
          <p:nvPr/>
        </p:nvSpPr>
        <p:spPr>
          <a:xfrm>
            <a:off x="9481060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589;p82">
            <a:extLst>
              <a:ext uri="{FF2B5EF4-FFF2-40B4-BE49-F238E27FC236}">
                <a16:creationId xmlns:a16="http://schemas.microsoft.com/office/drawing/2014/main" id="{2D5AC512-671E-4F85-9F92-31F51C21F5ED}"/>
              </a:ext>
            </a:extLst>
          </p:cNvPr>
          <p:cNvSpPr/>
          <p:nvPr/>
        </p:nvSpPr>
        <p:spPr>
          <a:xfrm>
            <a:off x="10199392" y="1418255"/>
            <a:ext cx="200779" cy="191246"/>
          </a:xfrm>
          <a:prstGeom prst="ellipse">
            <a:avLst/>
          </a:prstGeom>
          <a:solidFill>
            <a:srgbClr val="0070C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24" name="Rectangle 3981">
            <a:extLst>
              <a:ext uri="{FF2B5EF4-FFF2-40B4-BE49-F238E27FC236}">
                <a16:creationId xmlns:a16="http://schemas.microsoft.com/office/drawing/2014/main" id="{D0BCB605-EC6E-B523-30E1-572131DFC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1411613"/>
            <a:ext cx="1389217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900" b="1" dirty="0">
                <a:solidFill>
                  <a:srgbClr val="000000"/>
                </a:solidFill>
                <a:latin typeface="IBM Plex Sans"/>
                <a:ea typeface="MS Gothic" panose="020B0609070205080204" pitchFamily="49" charset="-128"/>
              </a:rPr>
              <a:t>Not applicable</a:t>
            </a:r>
            <a:endParaRPr kumimoji="0" lang="en-US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/>
              <a:ea typeface="MS Gothic" panose="020B0609070205080204" pitchFamily="49" charset="-128"/>
              <a:cs typeface="Arial" panose="020B0604020202020204" pitchFamily="34" charset="0"/>
            </a:endParaRPr>
          </a:p>
        </p:txBody>
      </p:sp>
      <p:sp>
        <p:nvSpPr>
          <p:cNvPr id="25" name="Google Shape;581;p82">
            <a:extLst>
              <a:ext uri="{FF2B5EF4-FFF2-40B4-BE49-F238E27FC236}">
                <a16:creationId xmlns:a16="http://schemas.microsoft.com/office/drawing/2014/main" id="{E57DC761-D1DF-1794-B8CB-E0F69C7AB40B}"/>
              </a:ext>
            </a:extLst>
          </p:cNvPr>
          <p:cNvSpPr txBox="1">
            <a:spLocks/>
          </p:cNvSpPr>
          <p:nvPr/>
        </p:nvSpPr>
        <p:spPr>
          <a:xfrm>
            <a:off x="6021958" y="1707304"/>
            <a:ext cx="5978363" cy="44754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609585" marR="0" lvl="0" indent="-304792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400"/>
              </a:spcBef>
            </a:pP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Recent Accomplishments/Activities:</a:t>
            </a:r>
            <a:endParaRPr lang="en-US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Write path wired into all mutation funnels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Rollback deletes the exact revision document</a:t>
            </a:r>
          </a:p>
          <a:p>
            <a:pPr marL="0" indent="0">
              <a:spcBef>
                <a:spcPts val="400"/>
              </a:spcBef>
            </a:pPr>
            <a:endParaRPr lang="en-US" sz="300" b="1" kern="0" dirty="0">
              <a:latin typeface="IBM Plex Sans Light" panose="020B0403050203000203" pitchFamily="34" charset="0"/>
              <a:ea typeface="IBM Plex Sans"/>
              <a:cs typeface="IBM Plex Sans"/>
              <a:sym typeface="IBM Plex Sans"/>
            </a:endParaRPr>
          </a:p>
          <a:p>
            <a:pPr marL="0" indent="0">
              <a:spcBef>
                <a:spcPts val="400"/>
              </a:spcBef>
            </a:pP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Planned Activities:</a:t>
            </a:r>
            <a:endParaRPr lang="en-US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Cross-workspace sharing for the register</a:t>
            </a:r>
          </a:p>
          <a:p>
            <a:pPr marL="0" indent="0">
              <a:spcBef>
                <a:spcPts val="400"/>
              </a:spcBef>
            </a:pPr>
            <a:endParaRPr lang="en-US" sz="300" b="1" kern="0" dirty="0">
              <a:latin typeface="IBM Plex Sans Light" panose="020B0403050203000203" pitchFamily="34" charset="0"/>
              <a:ea typeface="IBM Plex Sans"/>
              <a:cs typeface="IBM Plex Sans"/>
              <a:sym typeface="IBM Plex Sans"/>
            </a:endParaRPr>
          </a:p>
          <a:p>
            <a:pPr marL="0" indent="0">
              <a:spcBef>
                <a:spcPts val="400"/>
              </a:spcBef>
            </a:pP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Issues:</a:t>
            </a:r>
            <a:endParaRPr lang="en-US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3754677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0;p82">
            <a:extLst>
              <a:ext uri="{FF2B5EF4-FFF2-40B4-BE49-F238E27FC236}">
                <a16:creationId xmlns:a16="http://schemas.microsoft.com/office/drawing/2014/main" id="{FDBD92B9-C418-88CA-3ADD-A9E72BD163E3}"/>
              </a:ext>
            </a:extLst>
          </p:cNvPr>
          <p:cNvSpPr txBox="1">
            <a:spLocks/>
          </p:cNvSpPr>
          <p:nvPr/>
        </p:nvSpPr>
        <p:spPr>
          <a:xfrm>
            <a:off x="226740" y="107540"/>
            <a:ext cx="5869260" cy="44396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336769"/>
                </a:solidFill>
                <a:latin typeface="IBM Plex Sans Light"/>
                <a:ea typeface="Calibri" panose="020F0502020204030204" pitchFamily="34" charset="0"/>
                <a:cs typeface="Calibri"/>
                <a:sym typeface="Avenir"/>
              </a:rPr>
              <a:t>Verification &amp; Approval</a:t>
            </a:r>
            <a:endParaRPr lang="en-US" sz="3200" b="1" dirty="0">
              <a:solidFill>
                <a:srgbClr val="336769"/>
              </a:solidFill>
              <a:latin typeface="IBM Plex Sans Light"/>
              <a:ea typeface="Calibri" panose="020F0502020204030204" pitchFamily="34" charset="0"/>
              <a:cs typeface="Calibri"/>
            </a:endParaRPr>
          </a:p>
        </p:txBody>
      </p:sp>
      <p:sp>
        <p:nvSpPr>
          <p:cNvPr id="5" name="Google Shape;581;p82">
            <a:extLst>
              <a:ext uri="{FF2B5EF4-FFF2-40B4-BE49-F238E27FC236}">
                <a16:creationId xmlns:a16="http://schemas.microsoft.com/office/drawing/2014/main" id="{4C4F2DA0-CD22-3A8D-51AD-D905F22B3D96}"/>
              </a:ext>
            </a:extLst>
          </p:cNvPr>
          <p:cNvSpPr txBox="1">
            <a:spLocks/>
          </p:cNvSpPr>
          <p:nvPr/>
        </p:nvSpPr>
        <p:spPr>
          <a:xfrm>
            <a:off x="300488" y="618399"/>
            <a:ext cx="5510616" cy="129524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400"/>
              </a:spcBef>
            </a:pPr>
            <a:r>
              <a:rPr lang="en-US" sz="1200" b="1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Overall Update: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flutter analyze: 0 errors on staging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164/164 tests passing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74 commits across Project Controls history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726 total commits on staging branch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dirty="0">
                <a:latin typeface="IBM Plex Sans Light"/>
                <a:sym typeface="IBM Plex Sans"/>
              </a:rPr>
              <a:t>Ready for approval — no open module work</a:t>
            </a:r>
          </a:p>
        </p:txBody>
      </p:sp>
      <p:graphicFrame>
        <p:nvGraphicFramePr>
          <p:cNvPr id="6" name="Google Shape;584;p82" descr="8 column, 6 row portfolio matrix table example">
            <a:extLst>
              <a:ext uri="{FF2B5EF4-FFF2-40B4-BE49-F238E27FC236}">
                <a16:creationId xmlns:a16="http://schemas.microsoft.com/office/drawing/2014/main" id="{33D88265-8898-BBF2-6305-FD1FC0DD97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2046649"/>
              </p:ext>
            </p:extLst>
          </p:nvPr>
        </p:nvGraphicFramePr>
        <p:xfrm>
          <a:off x="10199392" y="67325"/>
          <a:ext cx="1885813" cy="3213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85813">
                  <a:extLst>
                    <a:ext uri="{9D8B030D-6E8A-4147-A177-3AD203B41FA5}">
                      <a16:colId xmlns:a16="http://schemas.microsoft.com/office/drawing/2014/main" val="1435310701"/>
                    </a:ext>
                  </a:extLst>
                </a:gridCol>
              </a:tblGrid>
              <a:tr h="3213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June 2026</a:t>
                      </a:r>
                      <a:endParaRPr sz="1100" b="1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581;p82">
            <a:extLst>
              <a:ext uri="{FF2B5EF4-FFF2-40B4-BE49-F238E27FC236}">
                <a16:creationId xmlns:a16="http://schemas.microsoft.com/office/drawing/2014/main" id="{D8636BBD-6080-D35D-5401-74A81007CC8D}"/>
              </a:ext>
            </a:extLst>
          </p:cNvPr>
          <p:cNvSpPr txBox="1">
            <a:spLocks/>
          </p:cNvSpPr>
          <p:nvPr/>
        </p:nvSpPr>
        <p:spPr>
          <a:xfrm>
            <a:off x="262678" y="1980536"/>
            <a:ext cx="5510616" cy="447549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609585" marR="0" lvl="0" indent="-304792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400"/>
              </a:spcBef>
            </a:pPr>
            <a:r>
              <a:rPr lang="en-US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Delivery Activities: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Recommended: approve module as delivered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6-item scope: register, impact, workflow, audit, baseline, persistence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" sz="900" kern="0" dirty="0">
                <a:latin typeface="IBM Plex Sans Light"/>
                <a:sym typeface="IBM Plex Sans"/>
              </a:rPr>
              <a:t>Follow-on: RBAC enforcement per role recommendation report</a:t>
            </a:r>
          </a:p>
        </p:txBody>
      </p:sp>
      <p:graphicFrame>
        <p:nvGraphicFramePr>
          <p:cNvPr id="8" name="Google Shape;584;p82" descr="8 column, 6 row portfolio matrix table example">
            <a:extLst>
              <a:ext uri="{FF2B5EF4-FFF2-40B4-BE49-F238E27FC236}">
                <a16:creationId xmlns:a16="http://schemas.microsoft.com/office/drawing/2014/main" id="{997F5E29-8682-E67C-75FE-C755BF9CC9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6560601"/>
              </p:ext>
            </p:extLst>
          </p:nvPr>
        </p:nvGraphicFramePr>
        <p:xfrm>
          <a:off x="6021959" y="517956"/>
          <a:ext cx="3980308" cy="11115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5053">
                  <a:extLst>
                    <a:ext uri="{9D8B030D-6E8A-4147-A177-3AD203B41FA5}">
                      <a16:colId xmlns:a16="http://schemas.microsoft.com/office/drawing/2014/main" val="1435310701"/>
                    </a:ext>
                  </a:extLst>
                </a:gridCol>
                <a:gridCol w="907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7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6062">
                  <a:extLst>
                    <a:ext uri="{9D8B030D-6E8A-4147-A177-3AD203B41FA5}">
                      <a16:colId xmlns:a16="http://schemas.microsoft.com/office/drawing/2014/main" val="234619276"/>
                    </a:ext>
                  </a:extLst>
                </a:gridCol>
              </a:tblGrid>
              <a:tr h="40979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Status</a:t>
                      </a:r>
                      <a:endParaRPr sz="1100" b="1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05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Overall</a:t>
                      </a:r>
                      <a:endParaRPr sz="105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Design</a:t>
                      </a:r>
                      <a:endParaRPr sz="110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8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Development</a:t>
                      </a:r>
                      <a:endParaRPr sz="80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Noto Sans Symbols"/>
                        <a:buNone/>
                      </a:pPr>
                      <a:r>
                        <a:rPr lang="en" sz="1100" b="1" i="0" dirty="0">
                          <a:solidFill>
                            <a:schemeClr val="bg1"/>
                          </a:solidFill>
                          <a:latin typeface="IBM Plex Sans Light"/>
                          <a:ea typeface="IBM Plex Sans Light"/>
                          <a:cs typeface="IBM Plex Sans Light"/>
                          <a:sym typeface="IBM Plex Sans Light"/>
                        </a:rPr>
                        <a:t>Release</a:t>
                      </a:r>
                      <a:endParaRPr sz="1100" b="1" i="0" dirty="0">
                        <a:solidFill>
                          <a:schemeClr val="bg1"/>
                        </a:solidFill>
                        <a:latin typeface="IBM Plex Sans Light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41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" sz="900" i="0" u="none" strike="noStrike" cap="none" dirty="0">
                          <a:solidFill>
                            <a:schemeClr val="tx1"/>
                          </a:solidFill>
                          <a:latin typeface="IBM Plex Sans Light" panose="020B0403050203000203" pitchFamily="34" charset="0"/>
                          <a:ea typeface="IBM Plex Sans Light"/>
                          <a:cs typeface="IBM Plex Sans Light"/>
                          <a:sym typeface="IBM Plex Sans Light"/>
                        </a:rPr>
                        <a:t>Now</a:t>
                      </a:r>
                      <a:endParaRPr sz="900" i="0" u="none" strike="noStrike" cap="none" dirty="0">
                        <a:solidFill>
                          <a:schemeClr val="tx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  <a:tabLst/>
                        <a:defRPr/>
                      </a:pPr>
                      <a:endParaRPr lang="en-US"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4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r>
                        <a:rPr lang="en-US" sz="900" i="1" u="none" strike="noStrike" cap="none" dirty="0">
                          <a:solidFill>
                            <a:schemeClr val="bg1"/>
                          </a:solidFill>
                          <a:latin typeface="IBM Plex Sans Light" panose="020B0403050203000203" pitchFamily="34" charset="0"/>
                          <a:ea typeface="IBM Plex Sans Light"/>
                          <a:cs typeface="IBM Plex Sans Light"/>
                          <a:sym typeface="IBM Plex Sans Light"/>
                        </a:rPr>
                        <a:t>Trending</a:t>
                      </a:r>
                      <a:endParaRPr sz="900" i="1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Noto Sans Symbols"/>
                        <a:buNone/>
                      </a:pPr>
                      <a:endParaRPr sz="1100" i="0" u="none" strike="noStrike" cap="none" dirty="0">
                        <a:solidFill>
                          <a:schemeClr val="bg1"/>
                        </a:solidFill>
                        <a:latin typeface="IBM Plex Sans Light" panose="020B0403050203000203" pitchFamily="34" charset="0"/>
                        <a:ea typeface="IBM Plex Sans Light"/>
                        <a:cs typeface="IBM Plex Sans Light"/>
                        <a:sym typeface="IBM Plex Sans Light"/>
                      </a:endParaRPr>
                    </a:p>
                  </a:txBody>
                  <a:tcPr marL="91433" marR="91433" marT="45733" marB="45733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Google Shape;589;p82">
            <a:extLst>
              <a:ext uri="{FF2B5EF4-FFF2-40B4-BE49-F238E27FC236}">
                <a16:creationId xmlns:a16="http://schemas.microsoft.com/office/drawing/2014/main" id="{C7763215-B682-129E-7F50-CEBCEA8D2C20}"/>
              </a:ext>
            </a:extLst>
          </p:cNvPr>
          <p:cNvSpPr/>
          <p:nvPr/>
        </p:nvSpPr>
        <p:spPr>
          <a:xfrm>
            <a:off x="8641341" y="1358470"/>
            <a:ext cx="243840" cy="243840"/>
          </a:xfrm>
          <a:prstGeom prst="ellipse">
            <a:avLst/>
          </a:prstGeom>
          <a:solidFill>
            <a:srgbClr val="FFFF0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00"/>
              </a:highlight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Google Shape;589;p82">
            <a:extLst>
              <a:ext uri="{FF2B5EF4-FFF2-40B4-BE49-F238E27FC236}">
                <a16:creationId xmlns:a16="http://schemas.microsoft.com/office/drawing/2014/main" id="{94432682-A43D-7E11-B321-9DE68D52B482}"/>
              </a:ext>
            </a:extLst>
          </p:cNvPr>
          <p:cNvSpPr/>
          <p:nvPr/>
        </p:nvSpPr>
        <p:spPr>
          <a:xfrm>
            <a:off x="8647598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Google Shape;589;p82">
            <a:extLst>
              <a:ext uri="{FF2B5EF4-FFF2-40B4-BE49-F238E27FC236}">
                <a16:creationId xmlns:a16="http://schemas.microsoft.com/office/drawing/2014/main" id="{75B5349F-7086-3D30-E092-8312FDEAD8ED}"/>
              </a:ext>
            </a:extLst>
          </p:cNvPr>
          <p:cNvSpPr/>
          <p:nvPr/>
        </p:nvSpPr>
        <p:spPr>
          <a:xfrm>
            <a:off x="7016779" y="135847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Google Shape;589;p82">
            <a:extLst>
              <a:ext uri="{FF2B5EF4-FFF2-40B4-BE49-F238E27FC236}">
                <a16:creationId xmlns:a16="http://schemas.microsoft.com/office/drawing/2014/main" id="{9CBCC08F-B807-5D18-017D-C071EE6C01F2}"/>
              </a:ext>
            </a:extLst>
          </p:cNvPr>
          <p:cNvSpPr/>
          <p:nvPr/>
        </p:nvSpPr>
        <p:spPr>
          <a:xfrm>
            <a:off x="7856498" y="1350791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Google Shape;589;p82">
            <a:extLst>
              <a:ext uri="{FF2B5EF4-FFF2-40B4-BE49-F238E27FC236}">
                <a16:creationId xmlns:a16="http://schemas.microsoft.com/office/drawing/2014/main" id="{88E890C6-8725-5E52-D7E9-8776FA4D467F}"/>
              </a:ext>
            </a:extLst>
          </p:cNvPr>
          <p:cNvSpPr/>
          <p:nvPr/>
        </p:nvSpPr>
        <p:spPr>
          <a:xfrm>
            <a:off x="7856498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589;p82">
            <a:extLst>
              <a:ext uri="{FF2B5EF4-FFF2-40B4-BE49-F238E27FC236}">
                <a16:creationId xmlns:a16="http://schemas.microsoft.com/office/drawing/2014/main" id="{610B602B-CEFE-F8BC-8227-69AFE324CF19}"/>
              </a:ext>
            </a:extLst>
          </p:cNvPr>
          <p:cNvSpPr/>
          <p:nvPr/>
        </p:nvSpPr>
        <p:spPr>
          <a:xfrm>
            <a:off x="7016779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589;p82">
            <a:extLst>
              <a:ext uri="{FF2B5EF4-FFF2-40B4-BE49-F238E27FC236}">
                <a16:creationId xmlns:a16="http://schemas.microsoft.com/office/drawing/2014/main" id="{31A23C30-DD83-8053-6C31-345DB7F50F30}"/>
              </a:ext>
            </a:extLst>
          </p:cNvPr>
          <p:cNvSpPr/>
          <p:nvPr/>
        </p:nvSpPr>
        <p:spPr>
          <a:xfrm>
            <a:off x="10199392" y="538620"/>
            <a:ext cx="200779" cy="191246"/>
          </a:xfrm>
          <a:prstGeom prst="ellipse">
            <a:avLst/>
          </a:prstGeom>
          <a:solidFill>
            <a:srgbClr val="00B05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6" name="Google Shape;589;p82">
            <a:extLst>
              <a:ext uri="{FF2B5EF4-FFF2-40B4-BE49-F238E27FC236}">
                <a16:creationId xmlns:a16="http://schemas.microsoft.com/office/drawing/2014/main" id="{CAEE9CA6-D334-D4B6-7781-4DD31AF04639}"/>
              </a:ext>
            </a:extLst>
          </p:cNvPr>
          <p:cNvSpPr/>
          <p:nvPr/>
        </p:nvSpPr>
        <p:spPr>
          <a:xfrm>
            <a:off x="10199394" y="829474"/>
            <a:ext cx="200779" cy="191246"/>
          </a:xfrm>
          <a:prstGeom prst="ellipse">
            <a:avLst/>
          </a:prstGeom>
          <a:solidFill>
            <a:srgbClr val="FFFF0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7" name="Google Shape;589;p82">
            <a:extLst>
              <a:ext uri="{FF2B5EF4-FFF2-40B4-BE49-F238E27FC236}">
                <a16:creationId xmlns:a16="http://schemas.microsoft.com/office/drawing/2014/main" id="{CB1702CD-156C-8F98-81CB-327461327623}"/>
              </a:ext>
            </a:extLst>
          </p:cNvPr>
          <p:cNvSpPr/>
          <p:nvPr/>
        </p:nvSpPr>
        <p:spPr>
          <a:xfrm>
            <a:off x="10199392" y="1132504"/>
            <a:ext cx="200779" cy="191246"/>
          </a:xfrm>
          <a:prstGeom prst="ellipse">
            <a:avLst/>
          </a:prstGeom>
          <a:solidFill>
            <a:srgbClr val="FF000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8" name="Rectangle 3981">
            <a:extLst>
              <a:ext uri="{FF2B5EF4-FFF2-40B4-BE49-F238E27FC236}">
                <a16:creationId xmlns:a16="http://schemas.microsoft.com/office/drawing/2014/main" id="{228FB27F-5BE5-0408-74CB-C5D086ABB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508011"/>
            <a:ext cx="1389217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900" b="1" dirty="0">
                <a:solidFill>
                  <a:srgbClr val="000000"/>
                </a:solidFill>
                <a:latin typeface="IBM Plex Sans"/>
                <a:ea typeface="MS Gothic" panose="020B0609070205080204" pitchFamily="49" charset="-128"/>
              </a:rPr>
              <a:t>On target OR Done</a:t>
            </a:r>
            <a:endParaRPr kumimoji="0" lang="en-US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/>
              <a:ea typeface="MS Gothic" panose="020B0609070205080204" pitchFamily="49" charset="-128"/>
              <a:cs typeface="Arial" panose="020B0604020202020204" pitchFamily="34" charset="0"/>
            </a:endParaRPr>
          </a:p>
        </p:txBody>
      </p:sp>
      <p:sp>
        <p:nvSpPr>
          <p:cNvPr id="19" name="Rectangle 3981">
            <a:extLst>
              <a:ext uri="{FF2B5EF4-FFF2-40B4-BE49-F238E27FC236}">
                <a16:creationId xmlns:a16="http://schemas.microsoft.com/office/drawing/2014/main" id="{B6D7B758-8AF1-7BDC-94F4-07924A82E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814528"/>
            <a:ext cx="1285920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MS Gothic" panose="020B0609070205080204" pitchFamily="49" charset="-128"/>
                <a:cs typeface="Arial" panose="020B0604020202020204" pitchFamily="34" charset="0"/>
              </a:rPr>
              <a:t>Possible Issues</a:t>
            </a:r>
          </a:p>
        </p:txBody>
      </p:sp>
      <p:sp>
        <p:nvSpPr>
          <p:cNvPr id="20" name="Rectangle 3981">
            <a:extLst>
              <a:ext uri="{FF2B5EF4-FFF2-40B4-BE49-F238E27FC236}">
                <a16:creationId xmlns:a16="http://schemas.microsoft.com/office/drawing/2014/main" id="{36F0CAC1-0A3F-C507-9643-BC6C3A463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1098493"/>
            <a:ext cx="1844318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MS Gothic" panose="020B0609070205080204" pitchFamily="49" charset="-128"/>
                <a:cs typeface="Arial" panose="020B0604020202020204" pitchFamily="34" charset="0"/>
              </a:rPr>
              <a:t>Major Issues OR Not Started</a:t>
            </a:r>
          </a:p>
        </p:txBody>
      </p:sp>
      <p:sp>
        <p:nvSpPr>
          <p:cNvPr id="21" name="Google Shape;589;p82">
            <a:extLst>
              <a:ext uri="{FF2B5EF4-FFF2-40B4-BE49-F238E27FC236}">
                <a16:creationId xmlns:a16="http://schemas.microsoft.com/office/drawing/2014/main" id="{3348C4DF-9ADC-E252-B5BC-7BF089213698}"/>
              </a:ext>
            </a:extLst>
          </p:cNvPr>
          <p:cNvSpPr/>
          <p:nvPr/>
        </p:nvSpPr>
        <p:spPr>
          <a:xfrm>
            <a:off x="9481060" y="1340157"/>
            <a:ext cx="243840" cy="243840"/>
          </a:xfrm>
          <a:prstGeom prst="ellipse">
            <a:avLst/>
          </a:prstGeom>
          <a:solidFill>
            <a:srgbClr val="FFFF0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Google Shape;589;p82">
            <a:extLst>
              <a:ext uri="{FF2B5EF4-FFF2-40B4-BE49-F238E27FC236}">
                <a16:creationId xmlns:a16="http://schemas.microsoft.com/office/drawing/2014/main" id="{847F1231-7C18-140D-B071-4AABDB141E42}"/>
              </a:ext>
            </a:extLst>
          </p:cNvPr>
          <p:cNvSpPr/>
          <p:nvPr/>
        </p:nvSpPr>
        <p:spPr>
          <a:xfrm>
            <a:off x="9481060" y="990710"/>
            <a:ext cx="243840" cy="243840"/>
          </a:xfrm>
          <a:prstGeom prst="ellipse">
            <a:avLst/>
          </a:prstGeom>
          <a:solidFill>
            <a:srgbClr val="00B050"/>
          </a:solidFill>
          <a:ln>
            <a:solidFill>
              <a:schemeClr val="tx1">
                <a:lumMod val="50000"/>
              </a:scheme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589;p82">
            <a:extLst>
              <a:ext uri="{FF2B5EF4-FFF2-40B4-BE49-F238E27FC236}">
                <a16:creationId xmlns:a16="http://schemas.microsoft.com/office/drawing/2014/main" id="{2D5AC512-671E-4F85-9F92-31F51C21F5ED}"/>
              </a:ext>
            </a:extLst>
          </p:cNvPr>
          <p:cNvSpPr/>
          <p:nvPr/>
        </p:nvSpPr>
        <p:spPr>
          <a:xfrm>
            <a:off x="10199392" y="1418255"/>
            <a:ext cx="200779" cy="191246"/>
          </a:xfrm>
          <a:prstGeom prst="ellipse">
            <a:avLst/>
          </a:prstGeom>
          <a:solidFill>
            <a:srgbClr val="0070C0"/>
          </a:solidFill>
          <a:ln>
            <a:solidFill>
              <a:srgbClr val="000000">
                <a:lumMod val="50000"/>
              </a:srgbClr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24" name="Rectangle 3981">
            <a:extLst>
              <a:ext uri="{FF2B5EF4-FFF2-40B4-BE49-F238E27FC236}">
                <a16:creationId xmlns:a16="http://schemas.microsoft.com/office/drawing/2014/main" id="{D0BCB605-EC6E-B523-30E1-572131DFC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0171" y="1411613"/>
            <a:ext cx="1389217" cy="24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12285" tIns="55156" rIns="112285" bIns="55156" anchor="ctr">
            <a:spAutoFit/>
          </a:bodyPr>
          <a:lstStyle>
            <a:lvl1pPr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850900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8509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11345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900" b="1" dirty="0">
                <a:solidFill>
                  <a:srgbClr val="000000"/>
                </a:solidFill>
                <a:latin typeface="IBM Plex Sans"/>
                <a:ea typeface="MS Gothic" panose="020B0609070205080204" pitchFamily="49" charset="-128"/>
              </a:rPr>
              <a:t>Not applicable</a:t>
            </a:r>
            <a:endParaRPr kumimoji="0" lang="en-US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/>
              <a:ea typeface="MS Gothic" panose="020B0609070205080204" pitchFamily="49" charset="-128"/>
              <a:cs typeface="Arial" panose="020B0604020202020204" pitchFamily="34" charset="0"/>
            </a:endParaRPr>
          </a:p>
        </p:txBody>
      </p:sp>
      <p:sp>
        <p:nvSpPr>
          <p:cNvPr id="25" name="Google Shape;581;p82">
            <a:extLst>
              <a:ext uri="{FF2B5EF4-FFF2-40B4-BE49-F238E27FC236}">
                <a16:creationId xmlns:a16="http://schemas.microsoft.com/office/drawing/2014/main" id="{E57DC761-D1DF-1794-B8CB-E0F69C7AB40B}"/>
              </a:ext>
            </a:extLst>
          </p:cNvPr>
          <p:cNvSpPr txBox="1">
            <a:spLocks/>
          </p:cNvSpPr>
          <p:nvPr/>
        </p:nvSpPr>
        <p:spPr>
          <a:xfrm>
            <a:off x="6021958" y="1707304"/>
            <a:ext cx="5978363" cy="44754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609585" marR="0" lvl="0" indent="-304792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–"/>
              <a:tabLst/>
              <a:defRPr sz="1867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»"/>
              <a:tabLst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57189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400"/>
              </a:spcBef>
            </a:pP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Recent Accomplishments/Activities:</a:t>
            </a:r>
            <a:endParaRPr lang="en-US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Persistence wiring verified with analyze + tests</a:t>
            </a:r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Report generated in Day One Report format</a:t>
            </a:r>
          </a:p>
          <a:p>
            <a:pPr marL="0" indent="0">
              <a:spcBef>
                <a:spcPts val="400"/>
              </a:spcBef>
            </a:pPr>
            <a:endParaRPr lang="en-US" sz="300" b="1" kern="0" dirty="0">
              <a:latin typeface="IBM Plex Sans Light" panose="020B0403050203000203" pitchFamily="34" charset="0"/>
              <a:ea typeface="IBM Plex Sans"/>
              <a:cs typeface="IBM Plex Sans"/>
              <a:sym typeface="IBM Plex Sans"/>
            </a:endParaRPr>
          </a:p>
          <a:p>
            <a:pPr marL="0" indent="0">
              <a:spcBef>
                <a:spcPts val="400"/>
              </a:spcBef>
            </a:pP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Planned Activities:</a:t>
            </a:r>
            <a:endParaRPr lang="en-US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Client demo session</a:t>
            </a:r>
          </a:p>
          <a:p>
            <a:pPr marL="0" indent="0">
              <a:spcBef>
                <a:spcPts val="400"/>
              </a:spcBef>
            </a:pPr>
            <a:endParaRPr lang="en-US" sz="300" b="1" kern="0" dirty="0">
              <a:latin typeface="IBM Plex Sans Light" panose="020B0403050203000203" pitchFamily="34" charset="0"/>
              <a:ea typeface="IBM Plex Sans"/>
              <a:cs typeface="IBM Plex Sans"/>
              <a:sym typeface="IBM Plex Sans"/>
            </a:endParaRPr>
          </a:p>
          <a:p>
            <a:pPr marL="0" indent="0">
              <a:spcBef>
                <a:spcPts val="400"/>
              </a:spcBef>
            </a:pPr>
            <a:r>
              <a:rPr lang="en" sz="1200" b="1" kern="0" dirty="0">
                <a:latin typeface="IBM Plex Sans Light" panose="020B0403050203000203" pitchFamily="34" charset="0"/>
                <a:ea typeface="IBM Plex Sans"/>
                <a:cs typeface="IBM Plex Sans"/>
                <a:sym typeface="IBM Plex Sans"/>
              </a:rPr>
              <a:t>Issues:</a:t>
            </a:r>
            <a:endParaRPr lang="en-US" kern="0" dirty="0"/>
          </a:p>
          <a:p>
            <a:pPr marL="227965" lvl="1" indent="-194310">
              <a:spcBef>
                <a:spcPts val="400"/>
              </a:spcBef>
              <a:buSzPts val="1000"/>
              <a:tabLst>
                <a:tab pos="1219170" algn="l"/>
              </a:tabLst>
            </a:pPr>
            <a:r>
              <a:rPr lang="en-US" sz="900" kern="0" dirty="0">
                <a:latin typeface="IBM Plex Sans Light"/>
              </a:rPr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3754677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317</Words>
  <Application>Microsoft Office PowerPoint</Application>
  <PresentationFormat>Widescreen</PresentationFormat>
  <Paragraphs>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IBM Plex Sans</vt:lpstr>
      <vt:lpstr>IBM Plex Sans Light</vt:lpstr>
      <vt:lpstr>Noto Sans Symbols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Ndu Project</dc:creator>
  <cp:lastModifiedBy>Ndu Project</cp:lastModifiedBy>
  <cp:revision>1</cp:revision>
  <dcterms:created xsi:type="dcterms:W3CDTF">2026-06-23T06:52:03Z</dcterms:created>
  <dcterms:modified xsi:type="dcterms:W3CDTF">2026-06-23T06:54:04Z</dcterms:modified>
</cp:coreProperties>
</file>